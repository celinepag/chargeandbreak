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5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nel.route"/>
          <p:cNvGrpSpPr/>
          <p:nvPr/>
        </p:nvGrpSpPr>
        <p:grpSpPr>
          <a:xfrm>
            <a:off x="91440" y="932688"/>
            <a:ext cx="11917488" cy="746252"/>
            <a:chOff x="91440" y="932688"/>
            <a:chExt cx="11917488" cy="746252"/>
          </a:xfrm>
        </p:grpSpPr>
        <p:sp>
          <p:nvSpPr>
            <p:cNvPr id="6" name="route.label"/>
            <p:cNvSpPr txBox="1"/>
            <p:nvPr/>
          </p:nvSpPr>
          <p:spPr>
            <a:xfrm>
              <a:off x="91440" y="1225295"/>
              <a:ext cx="731520" cy="228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Route</a:t>
              </a:r>
            </a:p>
          </p:txBody>
        </p:sp>
        <p:cxnSp>
          <p:nvCxnSpPr>
            <p:cNvPr id="7" name="route.line"/>
            <p:cNvCxnSpPr/>
            <p:nvPr/>
          </p:nvCxnSpPr>
          <p:spPr>
            <a:xfrm>
              <a:off x="1130999" y="1335024"/>
              <a:ext cx="10466449" cy="0"/>
            </a:xfrm>
            <a:prstGeom prst="line">
              <a:avLst/>
            </a:prstGeom>
            <a:ln w="19050">
              <a:solidFill>
                <a:srgbClr val="44444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te.layby.1"/>
            <p:cNvSpPr/>
            <p:nvPr/>
          </p:nvSpPr>
          <p:spPr>
            <a:xfrm>
              <a:off x="134403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te.layby.2"/>
            <p:cNvSpPr/>
            <p:nvPr/>
          </p:nvSpPr>
          <p:spPr>
            <a:xfrm>
              <a:off x="156437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te.cs.3"/>
            <p:cNvSpPr/>
            <p:nvPr/>
          </p:nvSpPr>
          <p:spPr>
            <a:xfrm>
              <a:off x="1721172" y="1252728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te.layby.4"/>
            <p:cNvSpPr/>
            <p:nvPr/>
          </p:nvSpPr>
          <p:spPr>
            <a:xfrm>
              <a:off x="203812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te.layby.5"/>
            <p:cNvSpPr/>
            <p:nvPr/>
          </p:nvSpPr>
          <p:spPr>
            <a:xfrm>
              <a:off x="229151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te.cs.6.chosen"/>
            <p:cNvSpPr/>
            <p:nvPr/>
          </p:nvSpPr>
          <p:spPr>
            <a:xfrm>
              <a:off x="2456221" y="1211580"/>
              <a:ext cx="192024" cy="164592"/>
            </a:xfrm>
            <a:prstGeom prst="triangle">
              <a:avLst/>
            </a:prstGeom>
            <a:solidFill>
              <a:srgbClr val="1E7A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te.cs.7"/>
            <p:cNvSpPr/>
            <p:nvPr/>
          </p:nvSpPr>
          <p:spPr>
            <a:xfrm>
              <a:off x="2855955" y="1252728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te.layby.8"/>
            <p:cNvSpPr/>
            <p:nvPr/>
          </p:nvSpPr>
          <p:spPr>
            <a:xfrm>
              <a:off x="319126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te.layby.9"/>
            <p:cNvSpPr/>
            <p:nvPr/>
          </p:nvSpPr>
          <p:spPr>
            <a:xfrm>
              <a:off x="346302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te.customer.10"/>
            <p:cNvSpPr/>
            <p:nvPr/>
          </p:nvSpPr>
          <p:spPr>
            <a:xfrm>
              <a:off x="3659807" y="1252728"/>
              <a:ext cx="164592" cy="164592"/>
            </a:xfrm>
            <a:prstGeom prst="diamond">
              <a:avLst/>
            </a:prstGeom>
            <a:solidFill>
              <a:srgbClr val="E8822D"/>
            </a:solidFill>
            <a:ln w="9525">
              <a:solidFill>
                <a:srgbClr val="7A3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te.layby.11"/>
            <p:cNvSpPr/>
            <p:nvPr/>
          </p:nvSpPr>
          <p:spPr>
            <a:xfrm>
              <a:off x="399644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te.cs.12"/>
            <p:cNvSpPr/>
            <p:nvPr/>
          </p:nvSpPr>
          <p:spPr>
            <a:xfrm>
              <a:off x="4194559" y="1252728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te.cs.13"/>
            <p:cNvSpPr/>
            <p:nvPr/>
          </p:nvSpPr>
          <p:spPr>
            <a:xfrm>
              <a:off x="4332276" y="1252728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te.layby.14"/>
            <p:cNvSpPr/>
            <p:nvPr/>
          </p:nvSpPr>
          <p:spPr>
            <a:xfrm>
              <a:off x="4616173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te.layby.15"/>
            <p:cNvSpPr/>
            <p:nvPr/>
          </p:nvSpPr>
          <p:spPr>
            <a:xfrm>
              <a:off x="483651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te.layby.16"/>
            <p:cNvSpPr/>
            <p:nvPr/>
          </p:nvSpPr>
          <p:spPr>
            <a:xfrm>
              <a:off x="5056865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te.cs.17.chosen"/>
            <p:cNvSpPr/>
            <p:nvPr/>
          </p:nvSpPr>
          <p:spPr>
            <a:xfrm>
              <a:off x="5188515" y="1211580"/>
              <a:ext cx="192024" cy="164592"/>
            </a:xfrm>
            <a:prstGeom prst="triangle">
              <a:avLst/>
            </a:prstGeom>
            <a:solidFill>
              <a:srgbClr val="1E7A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te.layby.18"/>
            <p:cNvSpPr/>
            <p:nvPr/>
          </p:nvSpPr>
          <p:spPr>
            <a:xfrm>
              <a:off x="5504903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te.layby.19"/>
            <p:cNvSpPr/>
            <p:nvPr/>
          </p:nvSpPr>
          <p:spPr>
            <a:xfrm>
              <a:off x="573259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te.customer.20"/>
            <p:cNvSpPr/>
            <p:nvPr/>
          </p:nvSpPr>
          <p:spPr>
            <a:xfrm>
              <a:off x="5885304" y="1252728"/>
              <a:ext cx="164592" cy="164592"/>
            </a:xfrm>
            <a:prstGeom prst="diamond">
              <a:avLst/>
            </a:prstGeom>
            <a:solidFill>
              <a:srgbClr val="E8822D"/>
            </a:solidFill>
            <a:ln w="9525">
              <a:solidFill>
                <a:srgbClr val="7A3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te.cs.21"/>
            <p:cNvSpPr/>
            <p:nvPr/>
          </p:nvSpPr>
          <p:spPr>
            <a:xfrm>
              <a:off x="6199710" y="1252728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te.customer.22"/>
            <p:cNvSpPr/>
            <p:nvPr/>
          </p:nvSpPr>
          <p:spPr>
            <a:xfrm>
              <a:off x="6524308" y="1252728"/>
              <a:ext cx="164592" cy="164592"/>
            </a:xfrm>
            <a:prstGeom prst="diamond">
              <a:avLst/>
            </a:prstGeom>
            <a:solidFill>
              <a:srgbClr val="E8822D"/>
            </a:solidFill>
            <a:ln w="9525">
              <a:solidFill>
                <a:srgbClr val="7A3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te.cs.23"/>
            <p:cNvSpPr/>
            <p:nvPr/>
          </p:nvSpPr>
          <p:spPr>
            <a:xfrm>
              <a:off x="6937870" y="1252728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te.cs.24"/>
            <p:cNvSpPr/>
            <p:nvPr/>
          </p:nvSpPr>
          <p:spPr>
            <a:xfrm>
              <a:off x="7009483" y="1252728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te.layby.25"/>
            <p:cNvSpPr/>
            <p:nvPr/>
          </p:nvSpPr>
          <p:spPr>
            <a:xfrm>
              <a:off x="731174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oute.layby.26"/>
            <p:cNvSpPr/>
            <p:nvPr/>
          </p:nvSpPr>
          <p:spPr>
            <a:xfrm>
              <a:off x="755045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te.cs.27.chosen"/>
            <p:cNvSpPr/>
            <p:nvPr/>
          </p:nvSpPr>
          <p:spPr>
            <a:xfrm>
              <a:off x="7700462" y="1211580"/>
              <a:ext cx="192024" cy="164592"/>
            </a:xfrm>
            <a:prstGeom prst="triangle">
              <a:avLst/>
            </a:prstGeom>
            <a:solidFill>
              <a:srgbClr val="1E7A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te.layby.28"/>
            <p:cNvSpPr/>
            <p:nvPr/>
          </p:nvSpPr>
          <p:spPr>
            <a:xfrm>
              <a:off x="798747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te.layby.29"/>
            <p:cNvSpPr/>
            <p:nvPr/>
          </p:nvSpPr>
          <p:spPr>
            <a:xfrm>
              <a:off x="818578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te.cs.30"/>
            <p:cNvSpPr/>
            <p:nvPr/>
          </p:nvSpPr>
          <p:spPr>
            <a:xfrm>
              <a:off x="8320543" y="1252728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te.layby.31"/>
            <p:cNvSpPr/>
            <p:nvPr/>
          </p:nvSpPr>
          <p:spPr>
            <a:xfrm>
              <a:off x="858975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te.layby.32"/>
            <p:cNvSpPr/>
            <p:nvPr/>
          </p:nvSpPr>
          <p:spPr>
            <a:xfrm>
              <a:off x="879540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te.cs.33"/>
            <p:cNvSpPr/>
            <p:nvPr/>
          </p:nvSpPr>
          <p:spPr>
            <a:xfrm>
              <a:off x="8937513" y="1252728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te.layby.34"/>
            <p:cNvSpPr/>
            <p:nvPr/>
          </p:nvSpPr>
          <p:spPr>
            <a:xfrm>
              <a:off x="923610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oute.layby.35"/>
            <p:cNvSpPr/>
            <p:nvPr/>
          </p:nvSpPr>
          <p:spPr>
            <a:xfrm>
              <a:off x="9471136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te.cs.36.chosen"/>
            <p:cNvSpPr/>
            <p:nvPr/>
          </p:nvSpPr>
          <p:spPr>
            <a:xfrm>
              <a:off x="9617475" y="1211580"/>
              <a:ext cx="192024" cy="164592"/>
            </a:xfrm>
            <a:prstGeom prst="triangle">
              <a:avLst/>
            </a:prstGeom>
            <a:solidFill>
              <a:srgbClr val="1E7A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te.layby.37"/>
            <p:cNvSpPr/>
            <p:nvPr/>
          </p:nvSpPr>
          <p:spPr>
            <a:xfrm>
              <a:off x="997058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te.cs.38"/>
            <p:cNvSpPr/>
            <p:nvPr/>
          </p:nvSpPr>
          <p:spPr>
            <a:xfrm>
              <a:off x="10171452" y="1252728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oute.layby.39"/>
            <p:cNvSpPr/>
            <p:nvPr/>
          </p:nvSpPr>
          <p:spPr>
            <a:xfrm>
              <a:off x="10506763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oute.layby.40"/>
            <p:cNvSpPr/>
            <p:nvPr/>
          </p:nvSpPr>
          <p:spPr>
            <a:xfrm>
              <a:off x="1077852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oute.cs.41"/>
            <p:cNvSpPr/>
            <p:nvPr/>
          </p:nvSpPr>
          <p:spPr>
            <a:xfrm>
              <a:off x="10986733" y="1252728"/>
              <a:ext cx="141732" cy="123444"/>
            </a:xfrm>
            <a:prstGeom prst="triangle">
              <a:avLst/>
            </a:prstGeom>
            <a:solidFill>
              <a:srgbClr val="8FBFA0"/>
            </a:solidFill>
            <a:ln w="9525">
              <a:solidFill>
                <a:srgbClr val="7AA8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oute.layby.42"/>
            <p:cNvSpPr/>
            <p:nvPr/>
          </p:nvSpPr>
          <p:spPr>
            <a:xfrm>
              <a:off x="11320208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te.ring.6"/>
            <p:cNvSpPr/>
            <p:nvPr/>
          </p:nvSpPr>
          <p:spPr>
            <a:xfrm>
              <a:off x="2396785" y="11795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oute.ring.9"/>
            <p:cNvSpPr/>
            <p:nvPr/>
          </p:nvSpPr>
          <p:spPr>
            <a:xfrm>
              <a:off x="3314894" y="11795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oute.ring.10"/>
            <p:cNvSpPr/>
            <p:nvPr/>
          </p:nvSpPr>
          <p:spPr>
            <a:xfrm>
              <a:off x="3586655" y="11795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te.ring.17"/>
            <p:cNvSpPr/>
            <p:nvPr/>
          </p:nvSpPr>
          <p:spPr>
            <a:xfrm>
              <a:off x="5129079" y="11795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oute.ring.20"/>
            <p:cNvSpPr/>
            <p:nvPr/>
          </p:nvSpPr>
          <p:spPr>
            <a:xfrm>
              <a:off x="5812152" y="11795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oute.ring.22"/>
            <p:cNvSpPr/>
            <p:nvPr/>
          </p:nvSpPr>
          <p:spPr>
            <a:xfrm>
              <a:off x="6451156" y="11795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oute.ring.27"/>
            <p:cNvSpPr/>
            <p:nvPr/>
          </p:nvSpPr>
          <p:spPr>
            <a:xfrm>
              <a:off x="7641026" y="11795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oute.ring.36"/>
            <p:cNvSpPr/>
            <p:nvPr/>
          </p:nvSpPr>
          <p:spPr>
            <a:xfrm>
              <a:off x="9558039" y="1179576"/>
              <a:ext cx="310896" cy="310896"/>
            </a:xfrm>
            <a:prstGeom prst="ellipse">
              <a:avLst/>
            </a:prstGeom>
            <a:noFill/>
            <a:ln w="22225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oute.km.6"/>
            <p:cNvSpPr txBox="1"/>
            <p:nvPr/>
          </p:nvSpPr>
          <p:spPr>
            <a:xfrm>
              <a:off x="2140753" y="1496060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1" i="0" dirty="0">
                  <a:solidFill>
                    <a:srgbClr val="CC2222"/>
                  </a:solidFill>
                  <a:latin typeface="Calibri"/>
                </a:rPr>
                <a:t>129 km</a:t>
              </a:r>
            </a:p>
          </p:txBody>
        </p:sp>
        <p:sp>
          <p:nvSpPr>
            <p:cNvPr id="59" name="route.km.9"/>
            <p:cNvSpPr txBox="1"/>
            <p:nvPr/>
          </p:nvSpPr>
          <p:spPr>
            <a:xfrm>
              <a:off x="3058862" y="1496060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1" i="0" dirty="0">
                  <a:solidFill>
                    <a:srgbClr val="CC2222"/>
                  </a:solidFill>
                  <a:latin typeface="Calibri"/>
                </a:rPr>
                <a:t>212 km</a:t>
              </a:r>
            </a:p>
          </p:txBody>
        </p:sp>
        <p:sp>
          <p:nvSpPr>
            <p:cNvPr id="60" name="route.km.10"/>
            <p:cNvSpPr txBox="1"/>
            <p:nvPr/>
          </p:nvSpPr>
          <p:spPr>
            <a:xfrm>
              <a:off x="3501336" y="1484630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1" i="0" dirty="0">
                  <a:solidFill>
                    <a:srgbClr val="CC2222"/>
                  </a:solidFill>
                  <a:latin typeface="Calibri"/>
                </a:rPr>
                <a:t>237 km</a:t>
              </a:r>
            </a:p>
          </p:txBody>
        </p:sp>
        <p:sp>
          <p:nvSpPr>
            <p:cNvPr id="61" name="route.km.17"/>
            <p:cNvSpPr txBox="1"/>
            <p:nvPr/>
          </p:nvSpPr>
          <p:spPr>
            <a:xfrm>
              <a:off x="4873047" y="1496060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CC2222"/>
                  </a:solidFill>
                  <a:latin typeface="Calibri"/>
                </a:rPr>
                <a:t>377 km</a:t>
              </a:r>
            </a:p>
          </p:txBody>
        </p:sp>
        <p:sp>
          <p:nvSpPr>
            <p:cNvPr id="62" name="route.km.20"/>
            <p:cNvSpPr txBox="1"/>
            <p:nvPr/>
          </p:nvSpPr>
          <p:spPr>
            <a:xfrm>
              <a:off x="5556120" y="1496060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CC2222"/>
                  </a:solidFill>
                  <a:latin typeface="Calibri"/>
                </a:rPr>
                <a:t>439 km</a:t>
              </a:r>
            </a:p>
          </p:txBody>
        </p:sp>
        <p:sp>
          <p:nvSpPr>
            <p:cNvPr id="63" name="route.km.22"/>
            <p:cNvSpPr txBox="1"/>
            <p:nvPr/>
          </p:nvSpPr>
          <p:spPr>
            <a:xfrm>
              <a:off x="6195124" y="1496060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CC2222"/>
                  </a:solidFill>
                  <a:latin typeface="Calibri"/>
                </a:rPr>
                <a:t>497 km</a:t>
              </a:r>
            </a:p>
          </p:txBody>
        </p:sp>
        <p:sp>
          <p:nvSpPr>
            <p:cNvPr id="64" name="route.km.27"/>
            <p:cNvSpPr txBox="1"/>
            <p:nvPr/>
          </p:nvSpPr>
          <p:spPr>
            <a:xfrm>
              <a:off x="7384994" y="1496060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CC2222"/>
                  </a:solidFill>
                  <a:latin typeface="Calibri"/>
                </a:rPr>
                <a:t>605 km</a:t>
              </a:r>
            </a:p>
          </p:txBody>
        </p:sp>
        <p:sp>
          <p:nvSpPr>
            <p:cNvPr id="65" name="route.km.36"/>
            <p:cNvSpPr txBox="1"/>
            <p:nvPr/>
          </p:nvSpPr>
          <p:spPr>
            <a:xfrm>
              <a:off x="9302007" y="1496060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CC2222"/>
                  </a:solidFill>
                  <a:latin typeface="Calibri"/>
                </a:rPr>
                <a:t>779 km</a:t>
              </a:r>
            </a:p>
          </p:txBody>
        </p:sp>
        <p:sp>
          <p:nvSpPr>
            <p:cNvPr id="66" name="route.node.O"/>
            <p:cNvSpPr/>
            <p:nvPr/>
          </p:nvSpPr>
          <p:spPr>
            <a:xfrm>
              <a:off x="1048703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oute.nodelabel.O"/>
            <p:cNvSpPr txBox="1"/>
            <p:nvPr/>
          </p:nvSpPr>
          <p:spPr>
            <a:xfrm>
              <a:off x="856679" y="950976"/>
              <a:ext cx="548640" cy="21945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i="0">
                  <a:solidFill>
                    <a:srgbClr val="222222"/>
                  </a:solidFill>
                  <a:latin typeface="Calibri"/>
                </a:rPr>
                <a:t>O</a:t>
              </a:r>
            </a:p>
          </p:txBody>
        </p:sp>
        <p:sp>
          <p:nvSpPr>
            <p:cNvPr id="68" name="route.kmlabel.O"/>
            <p:cNvSpPr txBox="1"/>
            <p:nvPr/>
          </p:nvSpPr>
          <p:spPr>
            <a:xfrm>
              <a:off x="719519" y="1463040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 i="0">
                  <a:solidFill>
                    <a:srgbClr val="222222"/>
                  </a:solidFill>
                  <a:latin typeface="Calibri"/>
                </a:rPr>
                <a:t>0 km</a:t>
              </a:r>
            </a:p>
          </p:txBody>
        </p:sp>
        <p:sp>
          <p:nvSpPr>
            <p:cNvPr id="69" name="route.node.D"/>
            <p:cNvSpPr/>
            <p:nvPr/>
          </p:nvSpPr>
          <p:spPr>
            <a:xfrm>
              <a:off x="11515152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oute.nodelabel.D"/>
            <p:cNvSpPr txBox="1"/>
            <p:nvPr/>
          </p:nvSpPr>
          <p:spPr>
            <a:xfrm>
              <a:off x="11323128" y="950976"/>
              <a:ext cx="548640" cy="21945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 i="0">
                  <a:solidFill>
                    <a:srgbClr val="222222"/>
                  </a:solidFill>
                  <a:latin typeface="Calibri"/>
                </a:rPr>
                <a:t>D</a:t>
              </a:r>
            </a:p>
          </p:txBody>
        </p:sp>
        <p:sp>
          <p:nvSpPr>
            <p:cNvPr id="71" name="route.kmlabel.D"/>
            <p:cNvSpPr txBox="1"/>
            <p:nvPr/>
          </p:nvSpPr>
          <p:spPr>
            <a:xfrm>
              <a:off x="11185968" y="1463040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 i="0">
                  <a:solidFill>
                    <a:srgbClr val="222222"/>
                  </a:solidFill>
                  <a:latin typeface="Calibri"/>
                </a:rPr>
                <a:t>950 km</a:t>
              </a:r>
            </a:p>
          </p:txBody>
        </p:sp>
        <p:sp>
          <p:nvSpPr>
            <p:cNvPr id="72" name="route.C1"/>
            <p:cNvSpPr txBox="1"/>
            <p:nvPr/>
          </p:nvSpPr>
          <p:spPr>
            <a:xfrm>
              <a:off x="3833543" y="932688"/>
              <a:ext cx="457200" cy="20116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7A3D0D"/>
                  </a:solidFill>
                  <a:latin typeface="Calibri"/>
                </a:rPr>
                <a:t>C1</a:t>
              </a:r>
            </a:p>
          </p:txBody>
        </p:sp>
        <p:sp>
          <p:nvSpPr>
            <p:cNvPr id="73" name="route.C2"/>
            <p:cNvSpPr txBox="1"/>
            <p:nvPr/>
          </p:nvSpPr>
          <p:spPr>
            <a:xfrm>
              <a:off x="6059040" y="932688"/>
              <a:ext cx="457200" cy="20116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7A3D0D"/>
                  </a:solidFill>
                  <a:latin typeface="Calibri"/>
                </a:rPr>
                <a:t>C2</a:t>
              </a:r>
            </a:p>
          </p:txBody>
        </p:sp>
        <p:sp>
          <p:nvSpPr>
            <p:cNvPr id="74" name="route.C3"/>
            <p:cNvSpPr txBox="1"/>
            <p:nvPr/>
          </p:nvSpPr>
          <p:spPr>
            <a:xfrm>
              <a:off x="6698044" y="932688"/>
              <a:ext cx="457200" cy="20116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7A3D0D"/>
                  </a:solidFill>
                  <a:latin typeface="Calibri"/>
                </a:rPr>
                <a:t>C3</a:t>
              </a:r>
            </a:p>
          </p:txBody>
        </p:sp>
      </p:grpSp>
      <p:grpSp>
        <p:nvGrpSpPr>
          <p:cNvPr id="75" name="legend"/>
          <p:cNvGrpSpPr/>
          <p:nvPr/>
        </p:nvGrpSpPr>
        <p:grpSpPr>
          <a:xfrm>
            <a:off x="6419088" y="329184"/>
            <a:ext cx="5413248" cy="329184"/>
            <a:chOff x="6419088" y="329184"/>
            <a:chExt cx="5413248" cy="329184"/>
          </a:xfrm>
        </p:grpSpPr>
        <p:sp>
          <p:nvSpPr>
            <p:cNvPr id="76" name="legend.frame"/>
            <p:cNvSpPr/>
            <p:nvPr/>
          </p:nvSpPr>
          <p:spPr>
            <a:xfrm>
              <a:off x="6419088" y="329184"/>
              <a:ext cx="5413248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341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legend.layby"/>
            <p:cNvSpPr/>
            <p:nvPr/>
          </p:nvSpPr>
          <p:spPr>
            <a:xfrm>
              <a:off x="6583679" y="420623"/>
              <a:ext cx="14630" cy="14630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legend.layby.txt"/>
            <p:cNvSpPr txBox="1"/>
            <p:nvPr/>
          </p:nvSpPr>
          <p:spPr>
            <a:xfrm>
              <a:off x="6656831" y="406908"/>
              <a:ext cx="77724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50" b="0" i="0">
                  <a:solidFill>
                    <a:srgbClr val="222222"/>
                  </a:solidFill>
                  <a:latin typeface="Calibri"/>
                </a:rPr>
                <a:t>Rest area</a:t>
              </a:r>
            </a:p>
          </p:txBody>
        </p:sp>
        <p:sp>
          <p:nvSpPr>
            <p:cNvPr id="79" name="legend.cs"/>
            <p:cNvSpPr/>
            <p:nvPr/>
          </p:nvSpPr>
          <p:spPr>
            <a:xfrm>
              <a:off x="7534656" y="411479"/>
              <a:ext cx="155448" cy="137160"/>
            </a:xfrm>
            <a:prstGeom prst="triangle">
              <a:avLst/>
            </a:prstGeom>
            <a:solidFill>
              <a:srgbClr val="1E7A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legend.cs.txt"/>
            <p:cNvSpPr txBox="1"/>
            <p:nvPr/>
          </p:nvSpPr>
          <p:spPr>
            <a:xfrm>
              <a:off x="7754112" y="406908"/>
              <a:ext cx="132588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50" b="0" i="0">
                  <a:solidFill>
                    <a:srgbClr val="222222"/>
                  </a:solidFill>
                  <a:latin typeface="Calibri"/>
                </a:rPr>
                <a:t>Charging station</a:t>
              </a:r>
            </a:p>
          </p:txBody>
        </p:sp>
        <p:sp>
          <p:nvSpPr>
            <p:cNvPr id="81" name="legend.cust"/>
            <p:cNvSpPr/>
            <p:nvPr/>
          </p:nvSpPr>
          <p:spPr>
            <a:xfrm>
              <a:off x="9180576" y="411479"/>
              <a:ext cx="146304" cy="146304"/>
            </a:xfrm>
            <a:prstGeom prst="diamond">
              <a:avLst/>
            </a:prstGeom>
            <a:solidFill>
              <a:srgbClr val="E8822D"/>
            </a:solidFill>
            <a:ln w="9525">
              <a:solidFill>
                <a:srgbClr val="7A3D0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legend.cust.txt"/>
            <p:cNvSpPr txBox="1"/>
            <p:nvPr/>
          </p:nvSpPr>
          <p:spPr>
            <a:xfrm>
              <a:off x="9390888" y="406908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50" b="0" i="0">
                  <a:solidFill>
                    <a:srgbClr val="222222"/>
                  </a:solidFill>
                  <a:latin typeface="Calibri"/>
                </a:rPr>
                <a:t>Customer</a:t>
              </a:r>
            </a:p>
          </p:txBody>
        </p:sp>
        <p:sp>
          <p:nvSpPr>
            <p:cNvPr id="83" name="legend.ring"/>
            <p:cNvSpPr/>
            <p:nvPr/>
          </p:nvSpPr>
          <p:spPr>
            <a:xfrm>
              <a:off x="10241280" y="397764"/>
              <a:ext cx="182880" cy="182880"/>
            </a:xfrm>
            <a:prstGeom prst="ellipse">
              <a:avLst/>
            </a:prstGeom>
            <a:noFill/>
            <a:ln w="19050">
              <a:solidFill>
                <a:srgbClr val="CC22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legend.ring.txt"/>
            <p:cNvSpPr txBox="1"/>
            <p:nvPr/>
          </p:nvSpPr>
          <p:spPr>
            <a:xfrm>
              <a:off x="10488167" y="406908"/>
              <a:ext cx="132588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50" b="0" i="0">
                  <a:solidFill>
                    <a:srgbClr val="222222"/>
                  </a:solidFill>
                  <a:latin typeface="Calibri"/>
                </a:rPr>
                <a:t>Stop used by the solution</a:t>
              </a:r>
            </a:p>
          </p:txBody>
        </p:sp>
      </p:grpSp>
      <p:grpSp>
        <p:nvGrpSpPr>
          <p:cNvPr id="85" name="panel.callouts"/>
          <p:cNvGrpSpPr/>
          <p:nvPr/>
        </p:nvGrpSpPr>
        <p:grpSpPr>
          <a:xfrm>
            <a:off x="-78026" y="1938528"/>
            <a:ext cx="11950170" cy="841248"/>
            <a:chOff x="-78026" y="1938528"/>
            <a:chExt cx="11950170" cy="841248"/>
          </a:xfrm>
        </p:grpSpPr>
        <p:sp>
          <p:nvSpPr>
            <p:cNvPr id="86" name="callout.6.txt"/>
            <p:cNvSpPr txBox="1"/>
            <p:nvPr/>
          </p:nvSpPr>
          <p:spPr>
            <a:xfrm>
              <a:off x="-78026" y="1938528"/>
              <a:ext cx="2377440" cy="3657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Charge &amp; 15 min break</a:t>
              </a:r>
            </a:p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(1st split,  g</a:t>
              </a:r>
              <a:r>
                <a:rPr sz="950" b="0" i="0" baseline="-25000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sz="950" b="0" i="0">
                  <a:solidFill>
                    <a:srgbClr val="444444"/>
                  </a:solidFill>
                  <a:latin typeface="Calibri"/>
                </a:rPr>
                <a:t> = τ</a:t>
              </a:r>
              <a:r>
                <a:rPr sz="950" b="0" i="0" baseline="-25000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sz="950" b="0" i="0" baseline="30000">
                  <a:solidFill>
                    <a:srgbClr val="444444"/>
                  </a:solidFill>
                  <a:latin typeface="Calibri"/>
                </a:rPr>
                <a:t>c</a:t>
              </a:r>
              <a:r>
                <a:rPr sz="950" b="0" i="0">
                  <a:solidFill>
                    <a:srgbClr val="444444"/>
                  </a:solidFill>
                  <a:latin typeface="Calibri"/>
                </a:rPr>
                <a:t>)</a:t>
              </a:r>
            </a:p>
          </p:txBody>
        </p:sp>
        <p:cxnSp>
          <p:nvCxnSpPr>
            <p:cNvPr id="87" name="callout.6.leader"/>
            <p:cNvCxnSpPr/>
            <p:nvPr/>
          </p:nvCxnSpPr>
          <p:spPr>
            <a:xfrm>
              <a:off x="1110693" y="2304288"/>
              <a:ext cx="736784" cy="429768"/>
            </a:xfrm>
            <a:prstGeom prst="line">
              <a:avLst/>
            </a:prstGeom>
            <a:ln w="9525">
              <a:solidFill>
                <a:srgbClr val="B8B8B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callout.9.txt"/>
            <p:cNvSpPr txBox="1"/>
            <p:nvPr/>
          </p:nvSpPr>
          <p:spPr>
            <a:xfrm>
              <a:off x="1504242" y="2322576"/>
              <a:ext cx="2377440" cy="3657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30 min break (2nd split)</a:t>
              </a:r>
            </a:p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at rest area</a:t>
              </a:r>
            </a:p>
          </p:txBody>
        </p:sp>
        <p:cxnSp>
          <p:nvCxnSpPr>
            <p:cNvPr id="89" name="callout.9.leader"/>
            <p:cNvCxnSpPr/>
            <p:nvPr/>
          </p:nvCxnSpPr>
          <p:spPr>
            <a:xfrm flipH="1">
              <a:off x="2482735" y="2688336"/>
              <a:ext cx="210227" cy="45720"/>
            </a:xfrm>
            <a:prstGeom prst="line">
              <a:avLst/>
            </a:prstGeom>
            <a:ln w="9525">
              <a:solidFill>
                <a:srgbClr val="B8B8B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callout.17.txt"/>
            <p:cNvSpPr txBox="1"/>
            <p:nvPr/>
          </p:nvSpPr>
          <p:spPr>
            <a:xfrm>
              <a:off x="3086512" y="1938528"/>
              <a:ext cx="2377440" cy="3657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Charge &amp; 45 min break</a:t>
              </a:r>
            </a:p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(g</a:t>
              </a:r>
              <a:r>
                <a:rPr sz="950" b="0" i="0" baseline="-25000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sz="950" b="0" i="0">
                  <a:solidFill>
                    <a:srgbClr val="444444"/>
                  </a:solidFill>
                  <a:latin typeface="Calibri"/>
                </a:rPr>
                <a:t> = τ</a:t>
              </a:r>
              <a:r>
                <a:rPr sz="950" b="0" i="0" baseline="-25000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sz="950" b="0" i="0" baseline="30000">
                  <a:solidFill>
                    <a:srgbClr val="444444"/>
                  </a:solidFill>
                  <a:latin typeface="Calibri"/>
                </a:rPr>
                <a:t>c</a:t>
              </a:r>
              <a:r>
                <a:rPr sz="950" b="0" i="0">
                  <a:solidFill>
                    <a:srgbClr val="444444"/>
                  </a:solidFill>
                  <a:latin typeface="Calibri"/>
                </a:rPr>
                <a:t>)</a:t>
              </a:r>
            </a:p>
          </p:txBody>
        </p:sp>
        <p:cxnSp>
          <p:nvCxnSpPr>
            <p:cNvPr id="91" name="callout.17.leader"/>
            <p:cNvCxnSpPr/>
            <p:nvPr/>
          </p:nvCxnSpPr>
          <p:spPr>
            <a:xfrm flipH="1">
              <a:off x="3845158" y="2304288"/>
              <a:ext cx="430074" cy="429768"/>
            </a:xfrm>
            <a:prstGeom prst="line">
              <a:avLst/>
            </a:prstGeom>
            <a:ln w="9525">
              <a:solidFill>
                <a:srgbClr val="B8B8B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callout.22.txt"/>
            <p:cNvSpPr txBox="1"/>
            <p:nvPr/>
          </p:nvSpPr>
          <p:spPr>
            <a:xfrm>
              <a:off x="5539030" y="1938528"/>
              <a:ext cx="2377440" cy="3657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Service, then 9 h rest</a:t>
              </a:r>
            </a:p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(overnight at customer)</a:t>
              </a:r>
            </a:p>
          </p:txBody>
        </p:sp>
        <p:cxnSp>
          <p:nvCxnSpPr>
            <p:cNvPr id="93" name="callout.22.leader"/>
            <p:cNvCxnSpPr/>
            <p:nvPr/>
          </p:nvCxnSpPr>
          <p:spPr>
            <a:xfrm>
              <a:off x="6727750" y="2304288"/>
              <a:ext cx="12131" cy="429768"/>
            </a:xfrm>
            <a:prstGeom prst="line">
              <a:avLst/>
            </a:prstGeom>
            <a:ln w="9525">
              <a:solidFill>
                <a:srgbClr val="B8B8B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callout.27.txt"/>
            <p:cNvSpPr txBox="1"/>
            <p:nvPr/>
          </p:nvSpPr>
          <p:spPr>
            <a:xfrm>
              <a:off x="7754207" y="1938528"/>
              <a:ext cx="2377440" cy="3657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Charge &amp; 45 min break</a:t>
              </a:r>
            </a:p>
          </p:txBody>
        </p:sp>
        <p:cxnSp>
          <p:nvCxnSpPr>
            <p:cNvPr id="95" name="callout.27.leader"/>
            <p:cNvCxnSpPr/>
            <p:nvPr/>
          </p:nvCxnSpPr>
          <p:spPr>
            <a:xfrm>
              <a:off x="8942927" y="2135124"/>
              <a:ext cx="389521" cy="598932"/>
            </a:xfrm>
            <a:prstGeom prst="line">
              <a:avLst/>
            </a:prstGeom>
            <a:ln w="9525">
              <a:solidFill>
                <a:srgbClr val="B8B8B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callout.36.txt"/>
            <p:cNvSpPr txBox="1"/>
            <p:nvPr/>
          </p:nvSpPr>
          <p:spPr>
            <a:xfrm>
              <a:off x="9494704" y="2322576"/>
              <a:ext cx="2377440" cy="3657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444444"/>
                  </a:solidFill>
                  <a:latin typeface="Calibri"/>
                </a:rPr>
                <a:t>Charge &amp; 45 min break</a:t>
              </a:r>
            </a:p>
          </p:txBody>
        </p:sp>
        <p:cxnSp>
          <p:nvCxnSpPr>
            <p:cNvPr id="97" name="callout.36.leader"/>
            <p:cNvCxnSpPr/>
            <p:nvPr/>
          </p:nvCxnSpPr>
          <p:spPr>
            <a:xfrm flipH="1">
              <a:off x="10565089" y="2519172"/>
              <a:ext cx="118335" cy="214884"/>
            </a:xfrm>
            <a:prstGeom prst="line">
              <a:avLst/>
            </a:prstGeom>
            <a:ln w="9525">
              <a:solidFill>
                <a:srgbClr val="B8B8B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micro.mstop.17"/>
            <p:cNvSpPr txBox="1"/>
            <p:nvPr/>
          </p:nvSpPr>
          <p:spPr>
            <a:xfrm>
              <a:off x="3011994" y="2487168"/>
              <a:ext cx="54864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0" i="1">
                  <a:solidFill>
                    <a:srgbClr val="222222"/>
                  </a:solidFill>
                  <a:latin typeface="Calibri"/>
                </a:rPr>
                <a:t>M</a:t>
              </a:r>
              <a:r>
                <a:rPr sz="1000" b="0" i="1" baseline="-25000">
                  <a:solidFill>
                    <a:srgbClr val="222222"/>
                  </a:solidFill>
                  <a:latin typeface="Calibri"/>
                </a:rPr>
                <a:t>i</a:t>
              </a:r>
              <a:r>
                <a:rPr sz="1000" b="0" i="1" baseline="30000">
                  <a:solidFill>
                    <a:srgbClr val="222222"/>
                  </a:solidFill>
                  <a:latin typeface="Calibri"/>
                </a:rPr>
                <a:t>stop</a:t>
              </a:r>
            </a:p>
          </p:txBody>
        </p:sp>
        <p:cxnSp>
          <p:nvCxnSpPr>
            <p:cNvPr id="99" name="micro.mstop.17.leader"/>
            <p:cNvCxnSpPr/>
            <p:nvPr/>
          </p:nvCxnSpPr>
          <p:spPr>
            <a:xfrm>
              <a:off x="3286314" y="2660903"/>
              <a:ext cx="369433" cy="118873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micro.queue.17"/>
            <p:cNvSpPr txBox="1"/>
            <p:nvPr/>
          </p:nvSpPr>
          <p:spPr>
            <a:xfrm>
              <a:off x="3229556" y="2286000"/>
              <a:ext cx="54864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0" i="1">
                  <a:solidFill>
                    <a:srgbClr val="222222"/>
                  </a:solidFill>
                  <a:latin typeface="Calibri"/>
                </a:rPr>
                <a:t>Q</a:t>
              </a:r>
              <a:r>
                <a:rPr sz="1000" b="0" i="1" baseline="-25000">
                  <a:solidFill>
                    <a:srgbClr val="222222"/>
                  </a:solidFill>
                  <a:latin typeface="Calibri"/>
                </a:rPr>
                <a:t>i</a:t>
              </a:r>
            </a:p>
          </p:txBody>
        </p:sp>
        <p:cxnSp>
          <p:nvCxnSpPr>
            <p:cNvPr id="101" name="micro.queue.17.leader"/>
            <p:cNvCxnSpPr/>
            <p:nvPr/>
          </p:nvCxnSpPr>
          <p:spPr>
            <a:xfrm>
              <a:off x="3503876" y="2459736"/>
              <a:ext cx="190389" cy="320040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micro.charge.17"/>
            <p:cNvSpPr txBox="1"/>
            <p:nvPr/>
          </p:nvSpPr>
          <p:spPr>
            <a:xfrm>
              <a:off x="3466896" y="2505456"/>
              <a:ext cx="54864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0" i="1">
                  <a:solidFill>
                    <a:srgbClr val="222222"/>
                  </a:solidFill>
                  <a:latin typeface="Calibri"/>
                </a:rPr>
                <a:t>τ</a:t>
              </a:r>
              <a:r>
                <a:rPr sz="1000" b="0" i="1" baseline="-25000">
                  <a:solidFill>
                    <a:srgbClr val="222222"/>
                  </a:solidFill>
                  <a:latin typeface="Calibri"/>
                </a:rPr>
                <a:t>i</a:t>
              </a:r>
              <a:r>
                <a:rPr sz="1000" b="0" i="1" baseline="30000">
                  <a:solidFill>
                    <a:srgbClr val="222222"/>
                  </a:solidFill>
                  <a:latin typeface="Calibri"/>
                </a:rPr>
                <a:t>c</a:t>
              </a:r>
            </a:p>
          </p:txBody>
        </p:sp>
        <p:cxnSp>
          <p:nvCxnSpPr>
            <p:cNvPr id="103" name="micro.charge.17.leader"/>
            <p:cNvCxnSpPr/>
            <p:nvPr/>
          </p:nvCxnSpPr>
          <p:spPr>
            <a:xfrm>
              <a:off x="3741216" y="2679191"/>
              <a:ext cx="142457" cy="100585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panel.truck"/>
          <p:cNvGrpSpPr/>
          <p:nvPr/>
        </p:nvGrpSpPr>
        <p:grpSpPr>
          <a:xfrm>
            <a:off x="91440" y="2761488"/>
            <a:ext cx="11704320" cy="438912"/>
            <a:chOff x="91440" y="2761488"/>
            <a:chExt cx="11704320" cy="438912"/>
          </a:xfrm>
        </p:grpSpPr>
        <p:sp>
          <p:nvSpPr>
            <p:cNvPr id="105" name="truck.label"/>
            <p:cNvSpPr txBox="1"/>
            <p:nvPr/>
          </p:nvSpPr>
          <p:spPr>
            <a:xfrm>
              <a:off x="91440" y="2871215"/>
              <a:ext cx="731520" cy="228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Truck</a:t>
              </a:r>
            </a:p>
          </p:txBody>
        </p:sp>
        <p:sp>
          <p:nvSpPr>
            <p:cNvPr id="106" name="truck.frame"/>
            <p:cNvSpPr/>
            <p:nvPr/>
          </p:nvSpPr>
          <p:spPr>
            <a:xfrm>
              <a:off x="932688" y="2761488"/>
              <a:ext cx="10863072" cy="438912"/>
            </a:xfrm>
            <a:prstGeom prst="rect">
              <a:avLst/>
            </a:prstGeom>
            <a:noFill/>
            <a:ln w="12700">
              <a:solidFill>
                <a:srgbClr val="AAAA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truck.drive@8.0"/>
            <p:cNvSpPr/>
            <p:nvPr/>
          </p:nvSpPr>
          <p:spPr>
            <a:xfrm>
              <a:off x="1071150" y="2792577"/>
              <a:ext cx="676644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08" name="truck.drive@10.2"/>
            <p:cNvSpPr/>
            <p:nvPr/>
          </p:nvSpPr>
          <p:spPr>
            <a:xfrm>
              <a:off x="1947161" y="2792577"/>
              <a:ext cx="403714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truck.drive@11.9"/>
            <p:cNvSpPr/>
            <p:nvPr/>
          </p:nvSpPr>
          <p:spPr>
            <a:xfrm>
              <a:off x="2614594" y="2792577"/>
              <a:ext cx="111912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truck.drive@12.7"/>
            <p:cNvSpPr/>
            <p:nvPr/>
          </p:nvSpPr>
          <p:spPr>
            <a:xfrm>
              <a:off x="2924289" y="2792577"/>
              <a:ext cx="698494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11" name="truck.drive@15.6"/>
            <p:cNvSpPr/>
            <p:nvPr/>
          </p:nvSpPr>
          <p:spPr>
            <a:xfrm>
              <a:off x="4067533" y="2792577"/>
              <a:ext cx="30326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truck.drive@16.8"/>
            <p:cNvSpPr/>
            <p:nvPr/>
          </p:nvSpPr>
          <p:spPr>
            <a:xfrm>
              <a:off x="4568564" y="2792577"/>
              <a:ext cx="292384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truck.drive@27.1"/>
            <p:cNvSpPr/>
            <p:nvPr/>
          </p:nvSpPr>
          <p:spPr>
            <a:xfrm>
              <a:off x="8618814" y="2792577"/>
              <a:ext cx="522846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truck.drive@29.4"/>
            <p:cNvSpPr/>
            <p:nvPr/>
          </p:nvSpPr>
          <p:spPr>
            <a:xfrm>
              <a:off x="9523235" y="2792577"/>
              <a:ext cx="85239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15" name="truck.drive@32.5"/>
            <p:cNvSpPr/>
            <p:nvPr/>
          </p:nvSpPr>
          <p:spPr>
            <a:xfrm>
              <a:off x="10754546" y="2792577"/>
              <a:ext cx="90276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116" name="truck.mstop@9.7"/>
            <p:cNvSpPr/>
            <p:nvPr/>
          </p:nvSpPr>
          <p:spPr>
            <a:xfrm>
              <a:off x="1747794" y="2792577"/>
              <a:ext cx="65927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truck.queue@9.9"/>
            <p:cNvSpPr/>
            <p:nvPr/>
          </p:nvSpPr>
          <p:spPr>
            <a:xfrm>
              <a:off x="1813722" y="2792577"/>
              <a:ext cx="34540" cy="376732"/>
            </a:xfrm>
            <a:prstGeom prst="rect">
              <a:avLst/>
            </a:prstGeom>
            <a:solidFill>
              <a:srgbClr val="E02B2B"/>
            </a:solidFill>
            <a:ln w="5080">
              <a:solidFill>
                <a:srgbClr val="E0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truck.charge@10.0"/>
            <p:cNvSpPr/>
            <p:nvPr/>
          </p:nvSpPr>
          <p:spPr>
            <a:xfrm>
              <a:off x="1848262" y="2792577"/>
              <a:ext cx="98904" cy="376732"/>
            </a:xfrm>
            <a:prstGeom prst="rect">
              <a:avLst/>
            </a:prstGeom>
            <a:solidFill>
              <a:srgbClr val="1E7A3C"/>
            </a:solidFill>
            <a:ln w="5080">
              <a:solidFill>
                <a:srgbClr val="1E7A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truck.idle@11.2"/>
            <p:cNvSpPr/>
            <p:nvPr/>
          </p:nvSpPr>
          <p:spPr>
            <a:xfrm>
              <a:off x="2350876" y="2792577"/>
              <a:ext cx="263718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truck.idle@12.2"/>
            <p:cNvSpPr/>
            <p:nvPr/>
          </p:nvSpPr>
          <p:spPr>
            <a:xfrm>
              <a:off x="2726507" y="2792577"/>
              <a:ext cx="197783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truck.mstop@14.5"/>
            <p:cNvSpPr/>
            <p:nvPr/>
          </p:nvSpPr>
          <p:spPr>
            <a:xfrm>
              <a:off x="3622783" y="2792577"/>
              <a:ext cx="65927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truck.queue@14.6"/>
            <p:cNvSpPr/>
            <p:nvPr/>
          </p:nvSpPr>
          <p:spPr>
            <a:xfrm>
              <a:off x="3688711" y="2792577"/>
              <a:ext cx="11108" cy="376732"/>
            </a:xfrm>
            <a:prstGeom prst="rect">
              <a:avLst/>
            </a:prstGeom>
            <a:solidFill>
              <a:srgbClr val="E02B2B"/>
            </a:solidFill>
            <a:ln w="5080">
              <a:solidFill>
                <a:srgbClr val="E0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truck.charge@14.6"/>
            <p:cNvSpPr/>
            <p:nvPr/>
          </p:nvSpPr>
          <p:spPr>
            <a:xfrm>
              <a:off x="3699820" y="2792577"/>
              <a:ext cx="367706" cy="376732"/>
            </a:xfrm>
            <a:prstGeom prst="rect">
              <a:avLst/>
            </a:prstGeom>
            <a:solidFill>
              <a:srgbClr val="1E7A3C"/>
            </a:solidFill>
            <a:ln w="5080">
              <a:solidFill>
                <a:srgbClr val="1E7A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truck.idle@15.6"/>
            <p:cNvSpPr/>
            <p:nvPr/>
          </p:nvSpPr>
          <p:spPr>
            <a:xfrm>
              <a:off x="4067526" y="2792577"/>
              <a:ext cx="7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truck.idle@16.3"/>
            <p:cNvSpPr/>
            <p:nvPr/>
          </p:nvSpPr>
          <p:spPr>
            <a:xfrm>
              <a:off x="4370801" y="2792577"/>
              <a:ext cx="197783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truck.idle@17.6"/>
            <p:cNvSpPr/>
            <p:nvPr/>
          </p:nvSpPr>
          <p:spPr>
            <a:xfrm>
              <a:off x="4860949" y="2792577"/>
              <a:ext cx="3757865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7" name="truck.mstop@28.4"/>
            <p:cNvSpPr/>
            <p:nvPr/>
          </p:nvSpPr>
          <p:spPr>
            <a:xfrm>
              <a:off x="9141660" y="2792577"/>
              <a:ext cx="65927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truck.queue@28.6"/>
            <p:cNvSpPr/>
            <p:nvPr/>
          </p:nvSpPr>
          <p:spPr>
            <a:xfrm>
              <a:off x="9207588" y="2792577"/>
              <a:ext cx="18999" cy="376732"/>
            </a:xfrm>
            <a:prstGeom prst="rect">
              <a:avLst/>
            </a:prstGeom>
            <a:solidFill>
              <a:srgbClr val="E02B2B"/>
            </a:solidFill>
            <a:ln w="5080">
              <a:solidFill>
                <a:srgbClr val="E0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truck.charge@28.6"/>
            <p:cNvSpPr/>
            <p:nvPr/>
          </p:nvSpPr>
          <p:spPr>
            <a:xfrm>
              <a:off x="9226588" y="2792577"/>
              <a:ext cx="296676" cy="376732"/>
            </a:xfrm>
            <a:prstGeom prst="rect">
              <a:avLst/>
            </a:prstGeom>
            <a:solidFill>
              <a:srgbClr val="1E7A3C"/>
            </a:solidFill>
            <a:ln w="5080">
              <a:solidFill>
                <a:srgbClr val="1E7A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truck.mstop@31.5"/>
            <p:cNvSpPr/>
            <p:nvPr/>
          </p:nvSpPr>
          <p:spPr>
            <a:xfrm>
              <a:off x="10375633" y="2792577"/>
              <a:ext cx="65927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truck.queue@31.7"/>
            <p:cNvSpPr/>
            <p:nvPr/>
          </p:nvSpPr>
          <p:spPr>
            <a:xfrm>
              <a:off x="10441561" y="2792577"/>
              <a:ext cx="16305" cy="376732"/>
            </a:xfrm>
            <a:prstGeom prst="rect">
              <a:avLst/>
            </a:prstGeom>
            <a:solidFill>
              <a:srgbClr val="E02B2B"/>
            </a:solidFill>
            <a:ln w="5080">
              <a:solidFill>
                <a:srgbClr val="E0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truck.charge@31.7"/>
            <p:cNvSpPr/>
            <p:nvPr/>
          </p:nvSpPr>
          <p:spPr>
            <a:xfrm>
              <a:off x="10457866" y="2792577"/>
              <a:ext cx="296678" cy="376732"/>
            </a:xfrm>
            <a:prstGeom prst="rect">
              <a:avLst/>
            </a:prstGeom>
            <a:solidFill>
              <a:srgbClr val="1E7A3C"/>
            </a:solidFill>
            <a:ln w="5080">
              <a:solidFill>
                <a:srgbClr val="1E7A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truck.parked.txt"/>
            <p:cNvSpPr txBox="1"/>
            <p:nvPr/>
          </p:nvSpPr>
          <p:spPr>
            <a:xfrm>
              <a:off x="5924373" y="2889503"/>
              <a:ext cx="1828800" cy="1828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 i="1">
                  <a:solidFill>
                    <a:srgbClr val="777777"/>
                  </a:solidFill>
                  <a:latin typeface="Calibri"/>
                </a:rPr>
                <a:t>truck parked  (τ</a:t>
              </a:r>
              <a:r>
                <a:rPr sz="900" b="0" i="1" baseline="-25000">
                  <a:solidFill>
                    <a:srgbClr val="777777"/>
                  </a:solidFill>
                  <a:latin typeface="Calibri"/>
                </a:rPr>
                <a:t>i</a:t>
              </a:r>
              <a:r>
                <a:rPr sz="900" b="0" i="1" baseline="30000">
                  <a:solidFill>
                    <a:srgbClr val="777777"/>
                  </a:solidFill>
                  <a:latin typeface="Calibri"/>
                </a:rPr>
                <a:t>r</a:t>
              </a:r>
              <a:r>
                <a:rPr sz="900" b="0" i="1">
                  <a:solidFill>
                    <a:srgbClr val="777777"/>
                  </a:solidFill>
                  <a:latin typeface="Calibri"/>
                </a:rPr>
                <a:t>)</a:t>
              </a:r>
            </a:p>
          </p:txBody>
        </p:sp>
      </p:grpSp>
      <p:grpSp>
        <p:nvGrpSpPr>
          <p:cNvPr id="134" name="panel.soc"/>
          <p:cNvGrpSpPr/>
          <p:nvPr/>
        </p:nvGrpSpPr>
        <p:grpSpPr>
          <a:xfrm>
            <a:off x="91440" y="3383280"/>
            <a:ext cx="12097512" cy="822960"/>
            <a:chOff x="91440" y="3383280"/>
            <a:chExt cx="12097512" cy="822960"/>
          </a:xfrm>
        </p:grpSpPr>
        <p:sp>
          <p:nvSpPr>
            <p:cNvPr id="135" name="soc.label"/>
            <p:cNvSpPr txBox="1"/>
            <p:nvPr/>
          </p:nvSpPr>
          <p:spPr>
            <a:xfrm>
              <a:off x="91440" y="3593592"/>
              <a:ext cx="777240" cy="411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SOC</a:t>
              </a:r>
            </a:p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[kWh]</a:t>
              </a:r>
            </a:p>
          </p:txBody>
        </p:sp>
        <p:sp>
          <p:nvSpPr>
            <p:cNvPr id="136" name="soc.chargeband@10.0"/>
            <p:cNvSpPr/>
            <p:nvPr/>
          </p:nvSpPr>
          <p:spPr>
            <a:xfrm>
              <a:off x="1848262" y="3392424"/>
              <a:ext cx="98904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soc.chargeband@14.6"/>
            <p:cNvSpPr/>
            <p:nvPr/>
          </p:nvSpPr>
          <p:spPr>
            <a:xfrm>
              <a:off x="3699820" y="3392424"/>
              <a:ext cx="367706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soc.chargeband@28.6"/>
            <p:cNvSpPr/>
            <p:nvPr/>
          </p:nvSpPr>
          <p:spPr>
            <a:xfrm>
              <a:off x="9226588" y="3392424"/>
              <a:ext cx="296676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soc.chargeband@31.7"/>
            <p:cNvSpPr/>
            <p:nvPr/>
          </p:nvSpPr>
          <p:spPr>
            <a:xfrm>
              <a:off x="10457866" y="3392424"/>
              <a:ext cx="296678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" name="soc.frame"/>
            <p:cNvSpPr/>
            <p:nvPr/>
          </p:nvSpPr>
          <p:spPr>
            <a:xfrm>
              <a:off x="932688" y="3383280"/>
              <a:ext cx="10863072" cy="822960"/>
            </a:xfrm>
            <a:prstGeom prst="rect">
              <a:avLst/>
            </a:prstGeom>
            <a:noFill/>
            <a:ln w="12700">
              <a:solidFill>
                <a:srgbClr val="AAAA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41" name="soc.Ecap.line"/>
            <p:cNvCxnSpPr/>
            <p:nvPr/>
          </p:nvCxnSpPr>
          <p:spPr>
            <a:xfrm>
              <a:off x="932688" y="3471454"/>
              <a:ext cx="10863072" cy="0"/>
            </a:xfrm>
            <a:prstGeom prst="line">
              <a:avLst/>
            </a:prstGeom>
            <a:ln w="12700">
              <a:solidFill>
                <a:srgbClr val="88888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oc.Emin.line"/>
            <p:cNvCxnSpPr/>
            <p:nvPr/>
          </p:nvCxnSpPr>
          <p:spPr>
            <a:xfrm>
              <a:off x="932688" y="4059282"/>
              <a:ext cx="10863072" cy="0"/>
            </a:xfrm>
            <a:prstGeom prst="line">
              <a:avLst/>
            </a:prstGeom>
            <a:ln w="12700">
              <a:solidFill>
                <a:srgbClr val="D6272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soc.Ecap.txt"/>
            <p:cNvSpPr txBox="1"/>
            <p:nvPr/>
          </p:nvSpPr>
          <p:spPr>
            <a:xfrm>
              <a:off x="11823192" y="3389158"/>
              <a:ext cx="365760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666666"/>
                  </a:solidFill>
                  <a:latin typeface="Calibri"/>
                </a:rPr>
                <a:t>E</a:t>
              </a:r>
              <a:r>
                <a:rPr sz="900" b="0" i="0" baseline="30000">
                  <a:solidFill>
                    <a:srgbClr val="666666"/>
                  </a:solidFill>
                  <a:latin typeface="Calibri"/>
                </a:rPr>
                <a:t>cap</a:t>
              </a:r>
            </a:p>
          </p:txBody>
        </p:sp>
        <p:sp>
          <p:nvSpPr>
            <p:cNvPr id="144" name="soc.Emin.txt"/>
            <p:cNvSpPr txBox="1"/>
            <p:nvPr/>
          </p:nvSpPr>
          <p:spPr>
            <a:xfrm>
              <a:off x="11823192" y="3976986"/>
              <a:ext cx="365760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D62728"/>
                  </a:solidFill>
                  <a:latin typeface="Calibri"/>
                </a:rPr>
                <a:t>E</a:t>
              </a:r>
              <a:r>
                <a:rPr sz="900" b="0" i="0" baseline="30000">
                  <a:solidFill>
                    <a:srgbClr val="D62728"/>
                  </a:solidFill>
                  <a:latin typeface="Calibri"/>
                </a:rPr>
                <a:t>min</a:t>
              </a:r>
            </a:p>
          </p:txBody>
        </p:sp>
        <p:sp>
          <p:nvSpPr>
            <p:cNvPr id="145" name="soc.ytick.100"/>
            <p:cNvSpPr txBox="1"/>
            <p:nvPr/>
          </p:nvSpPr>
          <p:spPr>
            <a:xfrm>
              <a:off x="548640" y="3976986"/>
              <a:ext cx="320040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100</a:t>
              </a:r>
            </a:p>
          </p:txBody>
        </p:sp>
        <p:sp>
          <p:nvSpPr>
            <p:cNvPr id="146" name="soc.ytick.300"/>
            <p:cNvSpPr txBox="1"/>
            <p:nvPr/>
          </p:nvSpPr>
          <p:spPr>
            <a:xfrm>
              <a:off x="548640" y="3683072"/>
              <a:ext cx="320040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300</a:t>
              </a:r>
            </a:p>
          </p:txBody>
        </p:sp>
        <p:sp>
          <p:nvSpPr>
            <p:cNvPr id="147" name="soc.ytick.500"/>
            <p:cNvSpPr txBox="1"/>
            <p:nvPr/>
          </p:nvSpPr>
          <p:spPr>
            <a:xfrm>
              <a:off x="548640" y="3389158"/>
              <a:ext cx="320040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500</a:t>
              </a:r>
            </a:p>
          </p:txBody>
        </p:sp>
        <p:sp>
          <p:nvSpPr>
            <p:cNvPr id="148" name="soc.curve"/>
            <p:cNvSpPr/>
            <p:nvPr/>
          </p:nvSpPr>
          <p:spPr>
            <a:xfrm>
              <a:off x="1071136" y="3471448"/>
              <a:ext cx="10586175" cy="546583"/>
            </a:xfrm>
            <a:custGeom>
              <a:avLst/>
              <a:gdLst/>
              <a:ahLst/>
              <a:cxnLst/>
              <a:rect l="l" t="t" r="r" b="b"/>
              <a:pathLst>
                <a:path w="10586175" h="546583">
                  <a:moveTo>
                    <a:pt x="0" y="6"/>
                  </a:moveTo>
                  <a:lnTo>
                    <a:pt x="14" y="0"/>
                  </a:lnTo>
                  <a:lnTo>
                    <a:pt x="99881" y="32175"/>
                  </a:lnTo>
                  <a:lnTo>
                    <a:pt x="99872" y="32176"/>
                  </a:lnTo>
                  <a:lnTo>
                    <a:pt x="204627" y="63741"/>
                  </a:lnTo>
                  <a:lnTo>
                    <a:pt x="204625" y="63748"/>
                  </a:lnTo>
                  <a:lnTo>
                    <a:pt x="297902" y="97056"/>
                  </a:lnTo>
                  <a:lnTo>
                    <a:pt x="297894" y="97055"/>
                  </a:lnTo>
                  <a:lnTo>
                    <a:pt x="409056" y="134633"/>
                  </a:lnTo>
                  <a:lnTo>
                    <a:pt x="409069" y="134627"/>
                  </a:lnTo>
                  <a:lnTo>
                    <a:pt x="517996" y="172607"/>
                  </a:lnTo>
                  <a:lnTo>
                    <a:pt x="517969" y="172618"/>
                  </a:lnTo>
                  <a:lnTo>
                    <a:pt x="676658" y="207730"/>
                  </a:lnTo>
                  <a:lnTo>
                    <a:pt x="777126" y="207730"/>
                  </a:lnTo>
                  <a:lnTo>
                    <a:pt x="843943" y="146963"/>
                  </a:lnTo>
                  <a:lnTo>
                    <a:pt x="876031" y="136441"/>
                  </a:lnTo>
                  <a:lnTo>
                    <a:pt x="876025" y="136441"/>
                  </a:lnTo>
                  <a:lnTo>
                    <a:pt x="1032510" y="193504"/>
                  </a:lnTo>
                  <a:lnTo>
                    <a:pt x="1032539" y="193507"/>
                  </a:lnTo>
                  <a:lnTo>
                    <a:pt x="1150627" y="234006"/>
                  </a:lnTo>
                  <a:lnTo>
                    <a:pt x="1150598" y="233999"/>
                  </a:lnTo>
                  <a:lnTo>
                    <a:pt x="1279740" y="272935"/>
                  </a:lnTo>
                  <a:lnTo>
                    <a:pt x="1543458" y="272939"/>
                  </a:lnTo>
                  <a:lnTo>
                    <a:pt x="1655371" y="314700"/>
                  </a:lnTo>
                  <a:lnTo>
                    <a:pt x="1853153" y="314696"/>
                  </a:lnTo>
                  <a:lnTo>
                    <a:pt x="1964823" y="354070"/>
                  </a:lnTo>
                  <a:lnTo>
                    <a:pt x="1964843" y="354079"/>
                  </a:lnTo>
                  <a:lnTo>
                    <a:pt x="2095756" y="390971"/>
                  </a:lnTo>
                  <a:lnTo>
                    <a:pt x="2095724" y="390968"/>
                  </a:lnTo>
                  <a:lnTo>
                    <a:pt x="2158691" y="411001"/>
                  </a:lnTo>
                  <a:lnTo>
                    <a:pt x="2158720" y="410992"/>
                  </a:lnTo>
                  <a:lnTo>
                    <a:pt x="2269449" y="442023"/>
                  </a:lnTo>
                  <a:lnTo>
                    <a:pt x="2269428" y="442035"/>
                  </a:lnTo>
                  <a:lnTo>
                    <a:pt x="2360351" y="475853"/>
                  </a:lnTo>
                  <a:lnTo>
                    <a:pt x="2360375" y="475846"/>
                  </a:lnTo>
                  <a:lnTo>
                    <a:pt x="2458016" y="508360"/>
                  </a:lnTo>
                  <a:lnTo>
                    <a:pt x="2457991" y="508369"/>
                  </a:lnTo>
                  <a:lnTo>
                    <a:pt x="2551647" y="541602"/>
                  </a:lnTo>
                  <a:lnTo>
                    <a:pt x="2628684" y="541602"/>
                  </a:lnTo>
                  <a:lnTo>
                    <a:pt x="2703242" y="440877"/>
                  </a:lnTo>
                  <a:lnTo>
                    <a:pt x="2996390" y="174274"/>
                  </a:lnTo>
                  <a:lnTo>
                    <a:pt x="2996397" y="174274"/>
                  </a:lnTo>
                  <a:lnTo>
                    <a:pt x="3091834" y="208891"/>
                  </a:lnTo>
                  <a:lnTo>
                    <a:pt x="3091836" y="208883"/>
                  </a:lnTo>
                  <a:lnTo>
                    <a:pt x="3194919" y="242147"/>
                  </a:lnTo>
                  <a:lnTo>
                    <a:pt x="3194925" y="242148"/>
                  </a:lnTo>
                  <a:lnTo>
                    <a:pt x="3299665" y="275183"/>
                  </a:lnTo>
                  <a:lnTo>
                    <a:pt x="3497428" y="275187"/>
                  </a:lnTo>
                  <a:lnTo>
                    <a:pt x="3652946" y="317639"/>
                  </a:lnTo>
                  <a:lnTo>
                    <a:pt x="3652977" y="317644"/>
                  </a:lnTo>
                  <a:lnTo>
                    <a:pt x="3789813" y="369647"/>
                  </a:lnTo>
                  <a:lnTo>
                    <a:pt x="7547678" y="369646"/>
                  </a:lnTo>
                  <a:lnTo>
                    <a:pt x="7736982" y="427460"/>
                  </a:lnTo>
                  <a:lnTo>
                    <a:pt x="7736999" y="427452"/>
                  </a:lnTo>
                  <a:lnTo>
                    <a:pt x="7766135" y="438541"/>
                  </a:lnTo>
                  <a:lnTo>
                    <a:pt x="7766108" y="438550"/>
                  </a:lnTo>
                  <a:lnTo>
                    <a:pt x="7865700" y="474942"/>
                  </a:lnTo>
                  <a:lnTo>
                    <a:pt x="7865729" y="474941"/>
                  </a:lnTo>
                  <a:lnTo>
                    <a:pt x="7969259" y="510550"/>
                  </a:lnTo>
                  <a:lnTo>
                    <a:pt x="7969261" y="510543"/>
                  </a:lnTo>
                  <a:lnTo>
                    <a:pt x="8070524" y="546583"/>
                  </a:lnTo>
                  <a:lnTo>
                    <a:pt x="8155452" y="546583"/>
                  </a:lnTo>
                  <a:lnTo>
                    <a:pt x="8233698" y="440877"/>
                  </a:lnTo>
                  <a:lnTo>
                    <a:pt x="8452128" y="242226"/>
                  </a:lnTo>
                  <a:lnTo>
                    <a:pt x="8452099" y="242226"/>
                  </a:lnTo>
                  <a:lnTo>
                    <a:pt x="8534881" y="272450"/>
                  </a:lnTo>
                  <a:lnTo>
                    <a:pt x="8534877" y="272449"/>
                  </a:lnTo>
                  <a:lnTo>
                    <a:pt x="8620482" y="302106"/>
                  </a:lnTo>
                  <a:lnTo>
                    <a:pt x="8620498" y="302117"/>
                  </a:lnTo>
                  <a:lnTo>
                    <a:pt x="8703511" y="332291"/>
                  </a:lnTo>
                  <a:lnTo>
                    <a:pt x="8703508" y="332289"/>
                  </a:lnTo>
                  <a:lnTo>
                    <a:pt x="8799674" y="361932"/>
                  </a:lnTo>
                  <a:lnTo>
                    <a:pt x="8799678" y="361932"/>
                  </a:lnTo>
                  <a:lnTo>
                    <a:pt x="8883653" y="393704"/>
                  </a:lnTo>
                  <a:lnTo>
                    <a:pt x="8883654" y="393691"/>
                  </a:lnTo>
                  <a:lnTo>
                    <a:pt x="8969293" y="425079"/>
                  </a:lnTo>
                  <a:lnTo>
                    <a:pt x="8969278" y="425085"/>
                  </a:lnTo>
                  <a:lnTo>
                    <a:pt x="9079261" y="458953"/>
                  </a:lnTo>
                  <a:lnTo>
                    <a:pt x="9079291" y="458959"/>
                  </a:lnTo>
                  <a:lnTo>
                    <a:pt x="9177599" y="494737"/>
                  </a:lnTo>
                  <a:lnTo>
                    <a:pt x="9177599" y="494738"/>
                  </a:lnTo>
                  <a:lnTo>
                    <a:pt x="9304497" y="527376"/>
                  </a:lnTo>
                  <a:lnTo>
                    <a:pt x="9386730" y="527376"/>
                  </a:lnTo>
                  <a:lnTo>
                    <a:pt x="9450759" y="440877"/>
                  </a:lnTo>
                  <a:lnTo>
                    <a:pt x="9683409" y="229294"/>
                  </a:lnTo>
                  <a:lnTo>
                    <a:pt x="9683410" y="229294"/>
                  </a:lnTo>
                  <a:lnTo>
                    <a:pt x="9794368" y="269466"/>
                  </a:lnTo>
                  <a:lnTo>
                    <a:pt x="9794360" y="269465"/>
                  </a:lnTo>
                  <a:lnTo>
                    <a:pt x="9983172" y="307029"/>
                  </a:lnTo>
                  <a:lnTo>
                    <a:pt x="9983179" y="307026"/>
                  </a:lnTo>
                  <a:lnTo>
                    <a:pt x="10092823" y="349338"/>
                  </a:lnTo>
                  <a:lnTo>
                    <a:pt x="10092824" y="349344"/>
                  </a:lnTo>
                  <a:lnTo>
                    <a:pt x="10204057" y="391264"/>
                  </a:lnTo>
                  <a:lnTo>
                    <a:pt x="10204022" y="391265"/>
                  </a:lnTo>
                  <a:lnTo>
                    <a:pt x="10347766" y="429121"/>
                  </a:lnTo>
                  <a:lnTo>
                    <a:pt x="10347798" y="429114"/>
                  </a:lnTo>
                  <a:lnTo>
                    <a:pt x="10466160" y="469152"/>
                  </a:lnTo>
                  <a:lnTo>
                    <a:pt x="10466141" y="469156"/>
                  </a:lnTo>
                  <a:lnTo>
                    <a:pt x="10586175" y="508918"/>
                  </a:lnTo>
                </a:path>
              </a:pathLst>
            </a:custGeom>
            <a:noFill/>
            <a:ln w="22225">
              <a:solidFill>
                <a:srgbClr val="1E7A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49" name="soc.midnight.line"/>
            <p:cNvCxnSpPr/>
            <p:nvPr/>
          </p:nvCxnSpPr>
          <p:spPr>
            <a:xfrm>
              <a:off x="7400215" y="3392424"/>
              <a:ext cx="0" cy="804672"/>
            </a:xfrm>
            <a:prstGeom prst="line">
              <a:avLst/>
            </a:prstGeom>
            <a:ln w="11430">
              <a:solidFill>
                <a:srgbClr val="BBBBBB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soc.midnight.txt"/>
            <p:cNvSpPr txBox="1"/>
            <p:nvPr/>
          </p:nvSpPr>
          <p:spPr>
            <a:xfrm>
              <a:off x="7459550" y="3492028"/>
              <a:ext cx="685800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 i="0">
                  <a:solidFill>
                    <a:srgbClr val="999999"/>
                  </a:solidFill>
                  <a:latin typeface="Calibri"/>
                </a:rPr>
                <a:t>midnight</a:t>
              </a:r>
            </a:p>
          </p:txBody>
        </p:sp>
      </p:grpSp>
      <p:grpSp>
        <p:nvGrpSpPr>
          <p:cNvPr id="151" name="panel.hos"/>
          <p:cNvGrpSpPr/>
          <p:nvPr/>
        </p:nvGrpSpPr>
        <p:grpSpPr>
          <a:xfrm>
            <a:off x="91440" y="4370832"/>
            <a:ext cx="12115800" cy="960120"/>
            <a:chOff x="91440" y="4370832"/>
            <a:chExt cx="12115800" cy="960120"/>
          </a:xfrm>
        </p:grpSpPr>
        <p:sp>
          <p:nvSpPr>
            <p:cNvPr id="152" name="hos.label"/>
            <p:cNvSpPr txBox="1"/>
            <p:nvPr/>
          </p:nvSpPr>
          <p:spPr>
            <a:xfrm>
              <a:off x="91440" y="4553712"/>
              <a:ext cx="777240" cy="411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HoS</a:t>
              </a:r>
            </a:p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[h]</a:t>
              </a:r>
            </a:p>
          </p:txBody>
        </p:sp>
        <p:sp>
          <p:nvSpPr>
            <p:cNvPr id="153" name="hos.frame"/>
            <p:cNvSpPr/>
            <p:nvPr/>
          </p:nvSpPr>
          <p:spPr>
            <a:xfrm>
              <a:off x="932688" y="4370832"/>
              <a:ext cx="10863072" cy="768096"/>
            </a:xfrm>
            <a:prstGeom prst="rect">
              <a:avLst/>
            </a:prstGeom>
            <a:noFill/>
            <a:ln w="12700">
              <a:solidFill>
                <a:srgbClr val="AAAA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4" name="hos.cap45.line"/>
            <p:cNvCxnSpPr/>
            <p:nvPr/>
          </p:nvCxnSpPr>
          <p:spPr>
            <a:xfrm>
              <a:off x="932688" y="4803352"/>
              <a:ext cx="10863072" cy="0"/>
            </a:xfrm>
            <a:prstGeom prst="line">
              <a:avLst/>
            </a:prstGeom>
            <a:ln w="12700">
              <a:solidFill>
                <a:srgbClr val="2B6CB0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hos.cap9.line"/>
            <p:cNvCxnSpPr/>
            <p:nvPr/>
          </p:nvCxnSpPr>
          <p:spPr>
            <a:xfrm>
              <a:off x="932688" y="4467776"/>
              <a:ext cx="10863072" cy="0"/>
            </a:xfrm>
            <a:prstGeom prst="line">
              <a:avLst/>
            </a:prstGeom>
            <a:ln w="12700">
              <a:solidFill>
                <a:srgbClr val="8A63B8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hos.cap45.txt"/>
            <p:cNvSpPr txBox="1"/>
            <p:nvPr/>
          </p:nvSpPr>
          <p:spPr>
            <a:xfrm>
              <a:off x="11823192" y="4721056"/>
              <a:ext cx="384048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 i="0">
                  <a:solidFill>
                    <a:srgbClr val="2B6CB0"/>
                  </a:solidFill>
                  <a:latin typeface="Calibri"/>
                </a:rPr>
                <a:t>4.5 h</a:t>
              </a:r>
            </a:p>
          </p:txBody>
        </p:sp>
        <p:sp>
          <p:nvSpPr>
            <p:cNvPr id="157" name="hos.cap9.txt"/>
            <p:cNvSpPr txBox="1"/>
            <p:nvPr/>
          </p:nvSpPr>
          <p:spPr>
            <a:xfrm>
              <a:off x="11823192" y="4385480"/>
              <a:ext cx="384048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 i="0">
                  <a:solidFill>
                    <a:srgbClr val="8A63B8"/>
                  </a:solidFill>
                  <a:latin typeface="Calibri"/>
                </a:rPr>
                <a:t>9 h</a:t>
              </a:r>
            </a:p>
          </p:txBody>
        </p:sp>
        <p:sp>
          <p:nvSpPr>
            <p:cNvPr id="158" name="hos.ytick.0"/>
            <p:cNvSpPr txBox="1"/>
            <p:nvPr/>
          </p:nvSpPr>
          <p:spPr>
            <a:xfrm>
              <a:off x="548640" y="5056632"/>
              <a:ext cx="320040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0</a:t>
              </a:r>
            </a:p>
          </p:txBody>
        </p:sp>
        <p:sp>
          <p:nvSpPr>
            <p:cNvPr id="159" name="hos.ytick.4.5"/>
            <p:cNvSpPr txBox="1"/>
            <p:nvPr/>
          </p:nvSpPr>
          <p:spPr>
            <a:xfrm>
              <a:off x="548640" y="4721056"/>
              <a:ext cx="320040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4.5</a:t>
              </a:r>
            </a:p>
          </p:txBody>
        </p:sp>
        <p:sp>
          <p:nvSpPr>
            <p:cNvPr id="160" name="hos.ytick.9"/>
            <p:cNvSpPr txBox="1"/>
            <p:nvPr/>
          </p:nvSpPr>
          <p:spPr>
            <a:xfrm>
              <a:off x="548640" y="4385480"/>
              <a:ext cx="320040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800" b="0" i="0">
                  <a:solidFill>
                    <a:srgbClr val="444444"/>
                  </a:solidFill>
                  <a:latin typeface="Calibri"/>
                </a:rPr>
                <a:t>9</a:t>
              </a:r>
            </a:p>
          </p:txBody>
        </p:sp>
        <p:cxnSp>
          <p:nvCxnSpPr>
            <p:cNvPr id="161" name="hos.midnight.line"/>
            <p:cNvCxnSpPr/>
            <p:nvPr/>
          </p:nvCxnSpPr>
          <p:spPr>
            <a:xfrm>
              <a:off x="7400215" y="4379976"/>
              <a:ext cx="0" cy="749808"/>
            </a:xfrm>
            <a:prstGeom prst="line">
              <a:avLst/>
            </a:prstGeom>
            <a:ln w="11430">
              <a:solidFill>
                <a:srgbClr val="BBBBBB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hos.cd.curve"/>
            <p:cNvSpPr/>
            <p:nvPr/>
          </p:nvSpPr>
          <p:spPr>
            <a:xfrm>
              <a:off x="1071136" y="4935258"/>
              <a:ext cx="10586175" cy="203670"/>
            </a:xfrm>
            <a:custGeom>
              <a:avLst/>
              <a:gdLst/>
              <a:ahLst/>
              <a:cxnLst/>
              <a:rect l="l" t="t" r="r" b="b"/>
              <a:pathLst>
                <a:path w="10586175" h="203670">
                  <a:moveTo>
                    <a:pt x="0" y="203670"/>
                  </a:moveTo>
                  <a:lnTo>
                    <a:pt x="14" y="203670"/>
                  </a:lnTo>
                  <a:lnTo>
                    <a:pt x="676658" y="76108"/>
                  </a:lnTo>
                  <a:lnTo>
                    <a:pt x="876025" y="76108"/>
                  </a:lnTo>
                  <a:lnTo>
                    <a:pt x="1279740" y="0"/>
                  </a:lnTo>
                  <a:lnTo>
                    <a:pt x="1543458" y="0"/>
                  </a:lnTo>
                  <a:lnTo>
                    <a:pt x="1543458" y="0"/>
                  </a:lnTo>
                  <a:lnTo>
                    <a:pt x="1543458" y="203670"/>
                  </a:lnTo>
                  <a:lnTo>
                    <a:pt x="1655371" y="182572"/>
                  </a:lnTo>
                  <a:lnTo>
                    <a:pt x="1853153" y="182572"/>
                  </a:lnTo>
                  <a:lnTo>
                    <a:pt x="2551647" y="50891"/>
                  </a:lnTo>
                  <a:lnTo>
                    <a:pt x="2996397" y="50891"/>
                  </a:lnTo>
                  <a:lnTo>
                    <a:pt x="2996397" y="50891"/>
                  </a:lnTo>
                  <a:lnTo>
                    <a:pt x="2996397" y="203670"/>
                  </a:lnTo>
                  <a:lnTo>
                    <a:pt x="3299665" y="146497"/>
                  </a:lnTo>
                  <a:lnTo>
                    <a:pt x="3497428" y="146497"/>
                  </a:lnTo>
                  <a:lnTo>
                    <a:pt x="3789813" y="91377"/>
                  </a:lnTo>
                  <a:lnTo>
                    <a:pt x="7547678" y="91377"/>
                  </a:lnTo>
                  <a:lnTo>
                    <a:pt x="7547678" y="91377"/>
                  </a:lnTo>
                  <a:lnTo>
                    <a:pt x="7547678" y="203670"/>
                  </a:lnTo>
                  <a:lnTo>
                    <a:pt x="8070524" y="105102"/>
                  </a:lnTo>
                  <a:lnTo>
                    <a:pt x="8452099" y="105102"/>
                  </a:lnTo>
                  <a:lnTo>
                    <a:pt x="8452099" y="105102"/>
                  </a:lnTo>
                  <a:lnTo>
                    <a:pt x="8452099" y="203670"/>
                  </a:lnTo>
                  <a:lnTo>
                    <a:pt x="9304497" y="42975"/>
                  </a:lnTo>
                  <a:lnTo>
                    <a:pt x="9683410" y="42975"/>
                  </a:lnTo>
                  <a:lnTo>
                    <a:pt x="9683410" y="42975"/>
                  </a:lnTo>
                  <a:lnTo>
                    <a:pt x="9683410" y="203670"/>
                  </a:lnTo>
                  <a:lnTo>
                    <a:pt x="10586175" y="33480"/>
                  </a:lnTo>
                  <a:lnTo>
                    <a:pt x="10586175" y="33480"/>
                  </a:lnTo>
                </a:path>
              </a:pathLst>
            </a:custGeom>
            <a:noFill/>
            <a:ln w="22225">
              <a:solidFill>
                <a:srgbClr val="2B6C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3" name="hos.sd.curve"/>
            <p:cNvSpPr/>
            <p:nvPr/>
          </p:nvSpPr>
          <p:spPr>
            <a:xfrm>
              <a:off x="1071136" y="4670188"/>
              <a:ext cx="10586175" cy="468740"/>
            </a:xfrm>
            <a:custGeom>
              <a:avLst/>
              <a:gdLst/>
              <a:ahLst/>
              <a:cxnLst/>
              <a:rect l="l" t="t" r="r" b="b"/>
              <a:pathLst>
                <a:path w="10586175" h="468740">
                  <a:moveTo>
                    <a:pt x="0" y="468740"/>
                  </a:moveTo>
                  <a:lnTo>
                    <a:pt x="14" y="468740"/>
                  </a:lnTo>
                  <a:lnTo>
                    <a:pt x="676658" y="341178"/>
                  </a:lnTo>
                  <a:lnTo>
                    <a:pt x="876025" y="341178"/>
                  </a:lnTo>
                  <a:lnTo>
                    <a:pt x="1279740" y="265070"/>
                  </a:lnTo>
                  <a:lnTo>
                    <a:pt x="1543458" y="265070"/>
                  </a:lnTo>
                  <a:lnTo>
                    <a:pt x="1655371" y="243972"/>
                  </a:lnTo>
                  <a:lnTo>
                    <a:pt x="1853153" y="243972"/>
                  </a:lnTo>
                  <a:lnTo>
                    <a:pt x="2551647" y="112292"/>
                  </a:lnTo>
                  <a:lnTo>
                    <a:pt x="2996397" y="112292"/>
                  </a:lnTo>
                  <a:lnTo>
                    <a:pt x="3299665" y="55120"/>
                  </a:lnTo>
                  <a:lnTo>
                    <a:pt x="3497428" y="55120"/>
                  </a:lnTo>
                  <a:lnTo>
                    <a:pt x="3789813" y="0"/>
                  </a:lnTo>
                  <a:lnTo>
                    <a:pt x="7547678" y="0"/>
                  </a:lnTo>
                  <a:lnTo>
                    <a:pt x="7547678" y="0"/>
                  </a:lnTo>
                  <a:lnTo>
                    <a:pt x="7547678" y="468740"/>
                  </a:lnTo>
                  <a:lnTo>
                    <a:pt x="8070524" y="370172"/>
                  </a:lnTo>
                  <a:lnTo>
                    <a:pt x="8452099" y="370172"/>
                  </a:lnTo>
                  <a:lnTo>
                    <a:pt x="9304497" y="209478"/>
                  </a:lnTo>
                  <a:lnTo>
                    <a:pt x="9683410" y="209478"/>
                  </a:lnTo>
                  <a:lnTo>
                    <a:pt x="10586175" y="39289"/>
                  </a:lnTo>
                  <a:lnTo>
                    <a:pt x="10586175" y="39289"/>
                  </a:lnTo>
                </a:path>
              </a:pathLst>
            </a:custGeom>
            <a:noFill/>
            <a:ln w="19050">
              <a:solidFill>
                <a:srgbClr val="8A63B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4" name="hos.legend.bg"/>
            <p:cNvSpPr/>
            <p:nvPr/>
          </p:nvSpPr>
          <p:spPr>
            <a:xfrm>
              <a:off x="978408" y="4517136"/>
              <a:ext cx="3611880" cy="2011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65" name="hos.legend.cd.line"/>
            <p:cNvCxnSpPr/>
            <p:nvPr/>
          </p:nvCxnSpPr>
          <p:spPr>
            <a:xfrm>
              <a:off x="1042416" y="4617720"/>
              <a:ext cx="237744" cy="0"/>
            </a:xfrm>
            <a:prstGeom prst="line">
              <a:avLst/>
            </a:prstGeom>
            <a:ln w="22225">
              <a:solidFill>
                <a:srgbClr val="2B6CB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hos.legend.cd.txt"/>
            <p:cNvSpPr txBox="1"/>
            <p:nvPr/>
          </p:nvSpPr>
          <p:spPr>
            <a:xfrm>
              <a:off x="1335024" y="4535424"/>
              <a:ext cx="1600200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222222"/>
                  </a:solidFill>
                  <a:latin typeface="Calibri"/>
                </a:rPr>
                <a:t>consecutive driving  t</a:t>
              </a:r>
              <a:r>
                <a:rPr sz="900" b="0" i="0" baseline="30000">
                  <a:solidFill>
                    <a:srgbClr val="222222"/>
                  </a:solidFill>
                  <a:latin typeface="Calibri"/>
                </a:rPr>
                <a:t>drv</a:t>
              </a:r>
            </a:p>
          </p:txBody>
        </p:sp>
        <p:cxnSp>
          <p:nvCxnSpPr>
            <p:cNvPr id="167" name="hos.legend.sd.line"/>
            <p:cNvCxnSpPr/>
            <p:nvPr/>
          </p:nvCxnSpPr>
          <p:spPr>
            <a:xfrm>
              <a:off x="3035808" y="4617720"/>
              <a:ext cx="237744" cy="0"/>
            </a:xfrm>
            <a:prstGeom prst="line">
              <a:avLst/>
            </a:prstGeom>
            <a:ln w="19050">
              <a:solidFill>
                <a:srgbClr val="8A63B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hos.legend.sd.txt"/>
            <p:cNvSpPr txBox="1"/>
            <p:nvPr/>
          </p:nvSpPr>
          <p:spPr>
            <a:xfrm>
              <a:off x="3328416" y="4535424"/>
              <a:ext cx="1234440" cy="164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222222"/>
                  </a:solidFill>
                  <a:latin typeface="Calibri"/>
                </a:rPr>
                <a:t>shift driving  t</a:t>
              </a:r>
              <a:r>
                <a:rPr sz="900" b="0" i="0" baseline="30000">
                  <a:solidFill>
                    <a:srgbClr val="222222"/>
                  </a:solidFill>
                  <a:latin typeface="Calibri"/>
                </a:rPr>
                <a:t>sd</a:t>
              </a:r>
            </a:p>
          </p:txBody>
        </p:sp>
        <p:cxnSp>
          <p:nvCxnSpPr>
            <p:cNvPr id="169" name="hos.xtick.8"/>
            <p:cNvCxnSpPr/>
            <p:nvPr/>
          </p:nvCxnSpPr>
          <p:spPr>
            <a:xfrm>
              <a:off x="1071136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hos.xticklabel.8"/>
            <p:cNvSpPr txBox="1"/>
            <p:nvPr/>
          </p:nvSpPr>
          <p:spPr>
            <a:xfrm>
              <a:off x="796816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08:00</a:t>
              </a:r>
            </a:p>
          </p:txBody>
        </p:sp>
        <p:cxnSp>
          <p:nvCxnSpPr>
            <p:cNvPr id="171" name="hos.xtick.10"/>
            <p:cNvCxnSpPr/>
            <p:nvPr/>
          </p:nvCxnSpPr>
          <p:spPr>
            <a:xfrm>
              <a:off x="1862271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hos.xticklabel.10"/>
            <p:cNvSpPr txBox="1"/>
            <p:nvPr/>
          </p:nvSpPr>
          <p:spPr>
            <a:xfrm>
              <a:off x="1587951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10:00</a:t>
              </a:r>
            </a:p>
          </p:txBody>
        </p:sp>
        <p:cxnSp>
          <p:nvCxnSpPr>
            <p:cNvPr id="173" name="hos.xtick.12"/>
            <p:cNvCxnSpPr/>
            <p:nvPr/>
          </p:nvCxnSpPr>
          <p:spPr>
            <a:xfrm>
              <a:off x="2653406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hos.xticklabel.12"/>
            <p:cNvSpPr txBox="1"/>
            <p:nvPr/>
          </p:nvSpPr>
          <p:spPr>
            <a:xfrm>
              <a:off x="2379086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12:00</a:t>
              </a:r>
            </a:p>
          </p:txBody>
        </p:sp>
        <p:cxnSp>
          <p:nvCxnSpPr>
            <p:cNvPr id="175" name="hos.xtick.14"/>
            <p:cNvCxnSpPr/>
            <p:nvPr/>
          </p:nvCxnSpPr>
          <p:spPr>
            <a:xfrm>
              <a:off x="3444541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hos.xticklabel.14"/>
            <p:cNvSpPr txBox="1"/>
            <p:nvPr/>
          </p:nvSpPr>
          <p:spPr>
            <a:xfrm>
              <a:off x="3170221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14:00</a:t>
              </a:r>
            </a:p>
          </p:txBody>
        </p:sp>
        <p:cxnSp>
          <p:nvCxnSpPr>
            <p:cNvPr id="177" name="hos.xtick.16"/>
            <p:cNvCxnSpPr/>
            <p:nvPr/>
          </p:nvCxnSpPr>
          <p:spPr>
            <a:xfrm>
              <a:off x="4235675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hos.xticklabel.16"/>
            <p:cNvSpPr txBox="1"/>
            <p:nvPr/>
          </p:nvSpPr>
          <p:spPr>
            <a:xfrm>
              <a:off x="3961355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16:00</a:t>
              </a:r>
            </a:p>
          </p:txBody>
        </p:sp>
        <p:cxnSp>
          <p:nvCxnSpPr>
            <p:cNvPr id="179" name="hos.xtick.18"/>
            <p:cNvCxnSpPr/>
            <p:nvPr/>
          </p:nvCxnSpPr>
          <p:spPr>
            <a:xfrm>
              <a:off x="5026810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hos.xticklabel.18"/>
            <p:cNvSpPr txBox="1"/>
            <p:nvPr/>
          </p:nvSpPr>
          <p:spPr>
            <a:xfrm>
              <a:off x="4752490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18:00</a:t>
              </a:r>
            </a:p>
          </p:txBody>
        </p:sp>
        <p:cxnSp>
          <p:nvCxnSpPr>
            <p:cNvPr id="181" name="hos.xtick.20"/>
            <p:cNvCxnSpPr/>
            <p:nvPr/>
          </p:nvCxnSpPr>
          <p:spPr>
            <a:xfrm>
              <a:off x="5817945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hos.xticklabel.20"/>
            <p:cNvSpPr txBox="1"/>
            <p:nvPr/>
          </p:nvSpPr>
          <p:spPr>
            <a:xfrm>
              <a:off x="5543625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20:00</a:t>
              </a:r>
            </a:p>
          </p:txBody>
        </p:sp>
        <p:cxnSp>
          <p:nvCxnSpPr>
            <p:cNvPr id="183" name="hos.xtick.22"/>
            <p:cNvCxnSpPr/>
            <p:nvPr/>
          </p:nvCxnSpPr>
          <p:spPr>
            <a:xfrm>
              <a:off x="6609080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hos.xticklabel.22"/>
            <p:cNvSpPr txBox="1"/>
            <p:nvPr/>
          </p:nvSpPr>
          <p:spPr>
            <a:xfrm>
              <a:off x="6334760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22:00</a:t>
              </a:r>
            </a:p>
          </p:txBody>
        </p:sp>
        <p:cxnSp>
          <p:nvCxnSpPr>
            <p:cNvPr id="185" name="hos.xtick.24"/>
            <p:cNvCxnSpPr/>
            <p:nvPr/>
          </p:nvCxnSpPr>
          <p:spPr>
            <a:xfrm>
              <a:off x="7400215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hos.xticklabel.24"/>
            <p:cNvSpPr txBox="1"/>
            <p:nvPr/>
          </p:nvSpPr>
          <p:spPr>
            <a:xfrm>
              <a:off x="7125895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00:00</a:t>
              </a:r>
            </a:p>
          </p:txBody>
        </p:sp>
        <p:cxnSp>
          <p:nvCxnSpPr>
            <p:cNvPr id="187" name="hos.xtick.26"/>
            <p:cNvCxnSpPr/>
            <p:nvPr/>
          </p:nvCxnSpPr>
          <p:spPr>
            <a:xfrm>
              <a:off x="8191349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hos.xticklabel.26"/>
            <p:cNvSpPr txBox="1"/>
            <p:nvPr/>
          </p:nvSpPr>
          <p:spPr>
            <a:xfrm>
              <a:off x="7917029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02:00</a:t>
              </a:r>
            </a:p>
          </p:txBody>
        </p:sp>
        <p:cxnSp>
          <p:nvCxnSpPr>
            <p:cNvPr id="189" name="hos.xtick.28"/>
            <p:cNvCxnSpPr/>
            <p:nvPr/>
          </p:nvCxnSpPr>
          <p:spPr>
            <a:xfrm>
              <a:off x="8982484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hos.xticklabel.28"/>
            <p:cNvSpPr txBox="1"/>
            <p:nvPr/>
          </p:nvSpPr>
          <p:spPr>
            <a:xfrm>
              <a:off x="8708164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04:00</a:t>
              </a:r>
            </a:p>
          </p:txBody>
        </p:sp>
        <p:cxnSp>
          <p:nvCxnSpPr>
            <p:cNvPr id="191" name="hos.xtick.30"/>
            <p:cNvCxnSpPr/>
            <p:nvPr/>
          </p:nvCxnSpPr>
          <p:spPr>
            <a:xfrm>
              <a:off x="9773619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hos.xticklabel.30"/>
            <p:cNvSpPr txBox="1"/>
            <p:nvPr/>
          </p:nvSpPr>
          <p:spPr>
            <a:xfrm>
              <a:off x="9499299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06:00</a:t>
              </a:r>
            </a:p>
          </p:txBody>
        </p:sp>
        <p:cxnSp>
          <p:nvCxnSpPr>
            <p:cNvPr id="193" name="hos.xtick.32"/>
            <p:cNvCxnSpPr/>
            <p:nvPr/>
          </p:nvCxnSpPr>
          <p:spPr>
            <a:xfrm>
              <a:off x="10564754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hos.xticklabel.32"/>
            <p:cNvSpPr txBox="1"/>
            <p:nvPr/>
          </p:nvSpPr>
          <p:spPr>
            <a:xfrm>
              <a:off x="10290434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08:00</a:t>
              </a:r>
            </a:p>
          </p:txBody>
        </p:sp>
        <p:cxnSp>
          <p:nvCxnSpPr>
            <p:cNvPr id="195" name="hos.xtick.34"/>
            <p:cNvCxnSpPr/>
            <p:nvPr/>
          </p:nvCxnSpPr>
          <p:spPr>
            <a:xfrm>
              <a:off x="11355889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hos.xticklabel.34"/>
            <p:cNvSpPr txBox="1"/>
            <p:nvPr/>
          </p:nvSpPr>
          <p:spPr>
            <a:xfrm>
              <a:off x="11081569" y="5184648"/>
              <a:ext cx="548640" cy="14630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555555"/>
                  </a:solidFill>
                  <a:latin typeface="Calibri"/>
                </a:rPr>
                <a:t>10:00</a:t>
              </a:r>
            </a:p>
          </p:txBody>
        </p:sp>
      </p:grpSp>
      <p:grpSp>
        <p:nvGrpSpPr>
          <p:cNvPr id="197" name="panel.driver"/>
          <p:cNvGrpSpPr/>
          <p:nvPr/>
        </p:nvGrpSpPr>
        <p:grpSpPr>
          <a:xfrm>
            <a:off x="91440" y="5440680"/>
            <a:ext cx="11704320" cy="1252931"/>
            <a:chOff x="91440" y="5440680"/>
            <a:chExt cx="11704320" cy="1252931"/>
          </a:xfrm>
        </p:grpSpPr>
        <p:sp>
          <p:nvSpPr>
            <p:cNvPr id="198" name="driver.label"/>
            <p:cNvSpPr txBox="1"/>
            <p:nvPr/>
          </p:nvSpPr>
          <p:spPr>
            <a:xfrm>
              <a:off x="91440" y="5550408"/>
              <a:ext cx="777240" cy="2286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222222"/>
                  </a:solidFill>
                  <a:latin typeface="Calibri"/>
                </a:rPr>
                <a:t>Driver</a:t>
              </a:r>
            </a:p>
          </p:txBody>
        </p:sp>
        <p:sp>
          <p:nvSpPr>
            <p:cNvPr id="199" name="driver.frame"/>
            <p:cNvSpPr/>
            <p:nvPr/>
          </p:nvSpPr>
          <p:spPr>
            <a:xfrm>
              <a:off x="932688" y="5440680"/>
              <a:ext cx="10863072" cy="438912"/>
            </a:xfrm>
            <a:prstGeom prst="rect">
              <a:avLst/>
            </a:prstGeom>
            <a:noFill/>
            <a:ln w="12700">
              <a:solidFill>
                <a:srgbClr val="AAAA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0" name="driver.drive@8.0"/>
            <p:cNvSpPr/>
            <p:nvPr/>
          </p:nvSpPr>
          <p:spPr>
            <a:xfrm>
              <a:off x="1071150" y="5471769"/>
              <a:ext cx="676644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201" name="driver.drive@10.2"/>
            <p:cNvSpPr/>
            <p:nvPr/>
          </p:nvSpPr>
          <p:spPr>
            <a:xfrm>
              <a:off x="1947161" y="5471769"/>
              <a:ext cx="403714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2" name="driver.drive@11.9"/>
            <p:cNvSpPr/>
            <p:nvPr/>
          </p:nvSpPr>
          <p:spPr>
            <a:xfrm>
              <a:off x="2614594" y="5471769"/>
              <a:ext cx="111912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3" name="driver.drive@12.7"/>
            <p:cNvSpPr/>
            <p:nvPr/>
          </p:nvSpPr>
          <p:spPr>
            <a:xfrm>
              <a:off x="2924289" y="5471769"/>
              <a:ext cx="698494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204" name="driver.drive@15.6"/>
            <p:cNvSpPr/>
            <p:nvPr/>
          </p:nvSpPr>
          <p:spPr>
            <a:xfrm>
              <a:off x="4067533" y="5471769"/>
              <a:ext cx="30326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5" name="driver.drive@16.8"/>
            <p:cNvSpPr/>
            <p:nvPr/>
          </p:nvSpPr>
          <p:spPr>
            <a:xfrm>
              <a:off x="4568564" y="5471769"/>
              <a:ext cx="292384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6" name="driver.drive@27.1"/>
            <p:cNvSpPr/>
            <p:nvPr/>
          </p:nvSpPr>
          <p:spPr>
            <a:xfrm>
              <a:off x="8618814" y="5471769"/>
              <a:ext cx="522846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7" name="driver.drive@29.4"/>
            <p:cNvSpPr/>
            <p:nvPr/>
          </p:nvSpPr>
          <p:spPr>
            <a:xfrm>
              <a:off x="9523235" y="5471769"/>
              <a:ext cx="85239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208" name="driver.drive@32.5"/>
            <p:cNvSpPr/>
            <p:nvPr/>
          </p:nvSpPr>
          <p:spPr>
            <a:xfrm>
              <a:off x="10754546" y="5471769"/>
              <a:ext cx="90276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00" b="0" i="0">
                  <a:solidFill>
                    <a:srgbClr val="333333"/>
                  </a:solidFill>
                  <a:latin typeface="Calibri"/>
                </a:rPr>
                <a:t>Driving</a:t>
              </a:r>
            </a:p>
          </p:txBody>
        </p:sp>
        <p:sp>
          <p:nvSpPr>
            <p:cNvPr id="209" name="driver.work@9.7"/>
            <p:cNvSpPr/>
            <p:nvPr/>
          </p:nvSpPr>
          <p:spPr>
            <a:xfrm>
              <a:off x="1747794" y="5471769"/>
              <a:ext cx="100468" cy="376732"/>
            </a:xfrm>
            <a:prstGeom prst="rect">
              <a:avLst/>
            </a:prstGeom>
            <a:solidFill>
              <a:srgbClr val="F2C7EE"/>
            </a:solidFill>
            <a:ln w="6350">
              <a:solidFill>
                <a:srgbClr val="C583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driver.break@10.0"/>
            <p:cNvSpPr/>
            <p:nvPr/>
          </p:nvSpPr>
          <p:spPr>
            <a:xfrm>
              <a:off x="1848262" y="5471769"/>
              <a:ext cx="98904" cy="376732"/>
            </a:xfrm>
            <a:prstGeom prst="rect">
              <a:avLst/>
            </a:prstGeom>
            <a:pattFill prst="ltUpDiag">
              <a:fgClr>
                <a:srgbClr val="2B7BBA"/>
              </a:fgClr>
              <a:bgClr>
                <a:srgbClr val="EEF6FD"/>
              </a:bgClr>
            </a:pattFill>
            <a:ln w="9525">
              <a:solidFill>
                <a:srgbClr val="2B7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1" name="driver.work@11.2"/>
            <p:cNvSpPr/>
            <p:nvPr/>
          </p:nvSpPr>
          <p:spPr>
            <a:xfrm>
              <a:off x="2350876" y="5471769"/>
              <a:ext cx="65927" cy="376732"/>
            </a:xfrm>
            <a:prstGeom prst="rect">
              <a:avLst/>
            </a:prstGeom>
            <a:solidFill>
              <a:srgbClr val="F2C7EE"/>
            </a:solidFill>
            <a:ln w="6350">
              <a:solidFill>
                <a:srgbClr val="C583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driver.break@11.4"/>
            <p:cNvSpPr/>
            <p:nvPr/>
          </p:nvSpPr>
          <p:spPr>
            <a:xfrm>
              <a:off x="2416804" y="5471769"/>
              <a:ext cx="197790" cy="376732"/>
            </a:xfrm>
            <a:prstGeom prst="rect">
              <a:avLst/>
            </a:prstGeom>
            <a:pattFill prst="ltUpDiag">
              <a:fgClr>
                <a:srgbClr val="2B7BBA"/>
              </a:fgClr>
              <a:bgClr>
                <a:srgbClr val="EEF6FD"/>
              </a:bgClr>
            </a:pattFill>
            <a:ln w="9525">
              <a:solidFill>
                <a:srgbClr val="2B7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3" name="driver.service@12.2"/>
            <p:cNvSpPr/>
            <p:nvPr/>
          </p:nvSpPr>
          <p:spPr>
            <a:xfrm>
              <a:off x="2726507" y="5471769"/>
              <a:ext cx="197783" cy="376732"/>
            </a:xfrm>
            <a:prstGeom prst="rect">
              <a:avLst/>
            </a:prstGeom>
            <a:solidFill>
              <a:srgbClr val="E8822D"/>
            </a:solidFill>
            <a:ln w="6350">
              <a:solidFill>
                <a:srgbClr val="A85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4" name="driver.work@14.5"/>
            <p:cNvSpPr/>
            <p:nvPr/>
          </p:nvSpPr>
          <p:spPr>
            <a:xfrm>
              <a:off x="3622783" y="5471769"/>
              <a:ext cx="77036" cy="376732"/>
            </a:xfrm>
            <a:prstGeom prst="rect">
              <a:avLst/>
            </a:prstGeom>
            <a:solidFill>
              <a:srgbClr val="F2C7EE"/>
            </a:solidFill>
            <a:ln w="6350">
              <a:solidFill>
                <a:srgbClr val="C583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5" name="driver.break@14.6"/>
            <p:cNvSpPr/>
            <p:nvPr/>
          </p:nvSpPr>
          <p:spPr>
            <a:xfrm>
              <a:off x="3699820" y="5471769"/>
              <a:ext cx="367713" cy="376732"/>
            </a:xfrm>
            <a:prstGeom prst="rect">
              <a:avLst/>
            </a:prstGeom>
            <a:pattFill prst="ltUpDiag">
              <a:fgClr>
                <a:srgbClr val="2B7BBA"/>
              </a:fgClr>
              <a:bgClr>
                <a:srgbClr val="EEF6FD"/>
              </a:bgClr>
            </a:pattFill>
            <a:ln w="9525">
              <a:solidFill>
                <a:srgbClr val="2B7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6" name="driver.service@16.3"/>
            <p:cNvSpPr/>
            <p:nvPr/>
          </p:nvSpPr>
          <p:spPr>
            <a:xfrm>
              <a:off x="4370801" y="5471769"/>
              <a:ext cx="197783" cy="376732"/>
            </a:xfrm>
            <a:prstGeom prst="rect">
              <a:avLst/>
            </a:prstGeom>
            <a:solidFill>
              <a:srgbClr val="E8822D"/>
            </a:solidFill>
            <a:ln w="6350">
              <a:solidFill>
                <a:srgbClr val="A85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7" name="driver.service@17.6"/>
            <p:cNvSpPr/>
            <p:nvPr/>
          </p:nvSpPr>
          <p:spPr>
            <a:xfrm>
              <a:off x="4860949" y="5471769"/>
              <a:ext cx="197783" cy="376732"/>
            </a:xfrm>
            <a:prstGeom prst="rect">
              <a:avLst/>
            </a:prstGeom>
            <a:solidFill>
              <a:srgbClr val="E8822D"/>
            </a:solidFill>
            <a:ln w="6350">
              <a:solidFill>
                <a:srgbClr val="A85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8" name="driver.rest@18.1"/>
            <p:cNvSpPr/>
            <p:nvPr/>
          </p:nvSpPr>
          <p:spPr>
            <a:xfrm>
              <a:off x="5058732" y="5471769"/>
              <a:ext cx="3560081" cy="376732"/>
            </a:xfrm>
            <a:prstGeom prst="rect">
              <a:avLst/>
            </a:prstGeom>
            <a:pattFill prst="wdDnDiag">
              <a:fgClr>
                <a:srgbClr val="1F4E79"/>
              </a:fgClr>
              <a:bgClr>
                <a:srgbClr val="E4EDF7"/>
              </a:bgClr>
            </a:pattFill>
            <a:ln w="952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9" name="driver.work@28.4"/>
            <p:cNvSpPr/>
            <p:nvPr/>
          </p:nvSpPr>
          <p:spPr>
            <a:xfrm>
              <a:off x="9141660" y="5471769"/>
              <a:ext cx="84927" cy="376732"/>
            </a:xfrm>
            <a:prstGeom prst="rect">
              <a:avLst/>
            </a:prstGeom>
            <a:solidFill>
              <a:srgbClr val="F2C7EE"/>
            </a:solidFill>
            <a:ln w="6350">
              <a:solidFill>
                <a:srgbClr val="C583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driver.break@28.6"/>
            <p:cNvSpPr/>
            <p:nvPr/>
          </p:nvSpPr>
          <p:spPr>
            <a:xfrm>
              <a:off x="9226588" y="5471769"/>
              <a:ext cx="296676" cy="376732"/>
            </a:xfrm>
            <a:prstGeom prst="rect">
              <a:avLst/>
            </a:prstGeom>
            <a:pattFill prst="ltUpDiag">
              <a:fgClr>
                <a:srgbClr val="2B7BBA"/>
              </a:fgClr>
              <a:bgClr>
                <a:srgbClr val="EEF6FD"/>
              </a:bgClr>
            </a:pattFill>
            <a:ln w="9525">
              <a:solidFill>
                <a:srgbClr val="2B7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1" name="driver.work@31.5"/>
            <p:cNvSpPr/>
            <p:nvPr/>
          </p:nvSpPr>
          <p:spPr>
            <a:xfrm>
              <a:off x="10375633" y="5471769"/>
              <a:ext cx="82233" cy="376732"/>
            </a:xfrm>
            <a:prstGeom prst="rect">
              <a:avLst/>
            </a:prstGeom>
            <a:solidFill>
              <a:srgbClr val="F2C7EE"/>
            </a:solidFill>
            <a:ln w="6350">
              <a:solidFill>
                <a:srgbClr val="C583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2" name="driver.break@31.7"/>
            <p:cNvSpPr/>
            <p:nvPr/>
          </p:nvSpPr>
          <p:spPr>
            <a:xfrm>
              <a:off x="10457866" y="5471769"/>
              <a:ext cx="296678" cy="376732"/>
            </a:xfrm>
            <a:prstGeom prst="rect">
              <a:avLst/>
            </a:prstGeom>
            <a:pattFill prst="ltUpDiag">
              <a:fgClr>
                <a:srgbClr val="2B7BBA"/>
              </a:fgClr>
              <a:bgClr>
                <a:srgbClr val="EEF6FD"/>
              </a:bgClr>
            </a:pattFill>
            <a:ln w="9525">
              <a:solidFill>
                <a:srgbClr val="2B7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driver.rotlabel.Working time@9.8"/>
            <p:cNvSpPr txBox="1"/>
            <p:nvPr/>
          </p:nvSpPr>
          <p:spPr>
            <a:xfrm rot="19320000">
              <a:off x="230626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Working time</a:t>
              </a:r>
            </a:p>
          </p:txBody>
        </p:sp>
        <p:sp>
          <p:nvSpPr>
            <p:cNvPr id="224" name="driver.rotlabel.1st split br@10.1"/>
            <p:cNvSpPr txBox="1"/>
            <p:nvPr/>
          </p:nvSpPr>
          <p:spPr>
            <a:xfrm rot="19320000">
              <a:off x="330313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1st split break (15′)</a:t>
              </a:r>
            </a:p>
          </p:txBody>
        </p:sp>
        <p:sp>
          <p:nvSpPr>
            <p:cNvPr id="225" name="driver.rotlabel.Working time@11.3"/>
            <p:cNvSpPr txBox="1"/>
            <p:nvPr/>
          </p:nvSpPr>
          <p:spPr>
            <a:xfrm rot="19320000">
              <a:off x="816438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Working time</a:t>
              </a:r>
            </a:p>
          </p:txBody>
        </p:sp>
        <p:sp>
          <p:nvSpPr>
            <p:cNvPr id="226" name="driver.rotlabel.2nd split br@11.7"/>
            <p:cNvSpPr txBox="1"/>
            <p:nvPr/>
          </p:nvSpPr>
          <p:spPr>
            <a:xfrm rot="19320000">
              <a:off x="948297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2nd split break (30′)</a:t>
              </a:r>
            </a:p>
          </p:txBody>
        </p:sp>
        <p:sp>
          <p:nvSpPr>
            <p:cNvPr id="227" name="driver.rotlabel.Service@12.4"/>
            <p:cNvSpPr txBox="1"/>
            <p:nvPr/>
          </p:nvSpPr>
          <p:spPr>
            <a:xfrm rot="19320000">
              <a:off x="1257997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Service</a:t>
              </a:r>
            </a:p>
          </p:txBody>
        </p:sp>
        <p:sp>
          <p:nvSpPr>
            <p:cNvPr id="228" name="driver.rotlabel.Working time@14.5"/>
            <p:cNvSpPr txBox="1"/>
            <p:nvPr/>
          </p:nvSpPr>
          <p:spPr>
            <a:xfrm rot="19320000">
              <a:off x="2093900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Working time</a:t>
              </a:r>
            </a:p>
          </p:txBody>
        </p:sp>
        <p:sp>
          <p:nvSpPr>
            <p:cNvPr id="229" name="driver.rotlabel.45′ break@15.1"/>
            <p:cNvSpPr txBox="1"/>
            <p:nvPr/>
          </p:nvSpPr>
          <p:spPr>
            <a:xfrm rot="19320000">
              <a:off x="2316275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45′ break</a:t>
              </a:r>
            </a:p>
          </p:txBody>
        </p:sp>
        <p:sp>
          <p:nvSpPr>
            <p:cNvPr id="230" name="driver.rotlabel.Service@16.6"/>
            <p:cNvSpPr txBox="1"/>
            <p:nvPr/>
          </p:nvSpPr>
          <p:spPr>
            <a:xfrm rot="19320000">
              <a:off x="2902291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Service</a:t>
              </a:r>
            </a:p>
          </p:txBody>
        </p:sp>
        <p:sp>
          <p:nvSpPr>
            <p:cNvPr id="231" name="driver.rotlabel.Service@17.8"/>
            <p:cNvSpPr txBox="1"/>
            <p:nvPr/>
          </p:nvSpPr>
          <p:spPr>
            <a:xfrm rot="19320000">
              <a:off x="3392439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Service</a:t>
              </a:r>
            </a:p>
          </p:txBody>
        </p:sp>
        <p:sp>
          <p:nvSpPr>
            <p:cNvPr id="232" name="driver.rotlabel.9 h rest (re@22.6"/>
            <p:cNvSpPr txBox="1"/>
            <p:nvPr/>
          </p:nvSpPr>
          <p:spPr>
            <a:xfrm rot="19320000">
              <a:off x="5271371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9 h rest (reduced)</a:t>
              </a:r>
            </a:p>
          </p:txBody>
        </p:sp>
        <p:sp>
          <p:nvSpPr>
            <p:cNvPr id="233" name="driver.rotlabel.Working time@28.5"/>
            <p:cNvSpPr txBox="1"/>
            <p:nvPr/>
          </p:nvSpPr>
          <p:spPr>
            <a:xfrm rot="19320000">
              <a:off x="7616722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Working time</a:t>
              </a:r>
            </a:p>
          </p:txBody>
        </p:sp>
        <p:sp>
          <p:nvSpPr>
            <p:cNvPr id="234" name="driver.rotlabel.45′ break@29.0"/>
            <p:cNvSpPr txBox="1"/>
            <p:nvPr/>
          </p:nvSpPr>
          <p:spPr>
            <a:xfrm rot="19320000">
              <a:off x="7807524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45′ break</a:t>
              </a:r>
            </a:p>
          </p:txBody>
        </p:sp>
        <p:sp>
          <p:nvSpPr>
            <p:cNvPr id="235" name="driver.rotlabel.Working time@31.6"/>
            <p:cNvSpPr txBox="1"/>
            <p:nvPr/>
          </p:nvSpPr>
          <p:spPr>
            <a:xfrm rot="19320000">
              <a:off x="8849348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Working time</a:t>
              </a:r>
            </a:p>
          </p:txBody>
        </p:sp>
        <p:sp>
          <p:nvSpPr>
            <p:cNvPr id="236" name="driver.rotlabel.45′ break@32.1"/>
            <p:cNvSpPr txBox="1"/>
            <p:nvPr/>
          </p:nvSpPr>
          <p:spPr>
            <a:xfrm rot="19320000">
              <a:off x="9038804" y="6474155"/>
              <a:ext cx="1828800" cy="2194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555555"/>
                  </a:solidFill>
                  <a:latin typeface="Calibri"/>
                </a:rPr>
                <a:t>45′ break</a:t>
              </a:r>
            </a:p>
          </p:txBody>
        </p:sp>
      </p:grpSp>
      <p:sp>
        <p:nvSpPr>
          <p:cNvPr id="237" name="caption"/>
          <p:cNvSpPr txBox="1"/>
          <p:nvPr/>
        </p:nvSpPr>
        <p:spPr>
          <a:xfrm>
            <a:off x="4023360" y="6601968"/>
            <a:ext cx="78181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888888"/>
                </a:solidFill>
                <a:latin typeface="Calibri"/>
              </a:rPr>
              <a:t>run RshortCfewTlarge_24_RO_20260716_092310_016   •   break rules: 45′ after ≤ 4.5 h driving, splittable 15′+30′; daily rest 11 h (9 h reduced)   •   charge counts as break when concurrent (g</a:t>
            </a:r>
            <a:r>
              <a:rPr sz="750" b="0" i="0" baseline="-25000">
                <a:solidFill>
                  <a:srgbClr val="888888"/>
                </a:solidFill>
                <a:latin typeface="Calibri"/>
              </a:rPr>
              <a:t>i</a:t>
            </a:r>
            <a:r>
              <a:rPr sz="750" b="0" i="0">
                <a:solidFill>
                  <a:srgbClr val="888888"/>
                </a:solidFill>
                <a:latin typeface="Calibri"/>
              </a:rPr>
              <a:t>), as work when followed by rest (σ</a:t>
            </a:r>
            <a:r>
              <a:rPr sz="750" b="0" i="0" baseline="-25000">
                <a:solidFill>
                  <a:srgbClr val="888888"/>
                </a:solidFill>
                <a:latin typeface="Calibri"/>
              </a:rPr>
              <a:t>i</a:t>
            </a:r>
            <a:r>
              <a:rPr sz="750" b="0" i="0">
                <a:solidFill>
                  <a:srgbClr val="888888"/>
                </a:solidFill>
                <a:latin typeface="Calibri"/>
              </a:rPr>
              <a:t> = 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Widescreen</PresentationFormat>
  <Paragraphs>90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Celine Victoria Pagnier</cp:lastModifiedBy>
  <cp:revision>2</cp:revision>
  <dcterms:created xsi:type="dcterms:W3CDTF">2013-01-27T09:14:16Z</dcterms:created>
  <dcterms:modified xsi:type="dcterms:W3CDTF">2026-07-17T07:23:51Z</dcterms:modified>
  <cp:category/>
</cp:coreProperties>
</file>