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77240" y="164592"/>
            <a:ext cx="5486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What a solution looks like</a:t>
            </a:r>
          </a:p>
        </p:txBody>
      </p:sp>
      <p:sp>
        <p:nvSpPr>
          <p:cNvPr id="3" name="subtitle.1"/>
          <p:cNvSpPr txBox="1"/>
          <p:nvPr/>
        </p:nvSpPr>
        <p:spPr>
          <a:xfrm>
            <a:off x="795528" y="566928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Instance RshortCfewTmedium_19  (899 km, 14 charging stations, 28 rest areas, 1 customer)</a:t>
            </a:r>
          </a:p>
        </p:txBody>
      </p:sp>
      <p:sp>
        <p:nvSpPr>
          <p:cNvPr id="4" name="subtitle.2"/>
          <p:cNvSpPr txBox="1"/>
          <p:nvPr/>
        </p:nvSpPr>
        <p:spPr>
          <a:xfrm>
            <a:off x="795528" y="786384"/>
            <a:ext cx="10058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RO plan, executed as-is  •  depart 08:00, arrive 08:52 next day (24.9 h)  •  feasible under realised travel times, customer window met</a:t>
            </a:r>
          </a:p>
        </p:txBody>
      </p:sp>
      <p:grpSp>
        <p:nvGrpSpPr>
          <p:cNvPr id="5" name="panel.route"/>
          <p:cNvGrpSpPr/>
          <p:nvPr/>
        </p:nvGrpSpPr>
        <p:grpSpPr>
          <a:xfrm>
            <a:off x="91440" y="932688"/>
            <a:ext cx="11906671" cy="896112"/>
            <a:chOff x="91440" y="932688"/>
            <a:chExt cx="11906671" cy="896112"/>
          </a:xfrm>
        </p:grpSpPr>
        <p:sp>
          <p:nvSpPr>
            <p:cNvPr id="6" name="route.label"/>
            <p:cNvSpPr txBox="1"/>
            <p:nvPr/>
          </p:nvSpPr>
          <p:spPr>
            <a:xfrm>
              <a:off x="91440" y="1225295"/>
              <a:ext cx="731520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Route</a:t>
              </a:r>
            </a:p>
          </p:txBody>
        </p:sp>
        <p:cxnSp>
          <p:nvCxnSpPr>
            <p:cNvPr id="7" name="route.line"/>
            <p:cNvCxnSpPr/>
            <p:nvPr/>
          </p:nvCxnSpPr>
          <p:spPr>
            <a:xfrm>
              <a:off x="1141816" y="1335024"/>
              <a:ext cx="10444815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te.layby.1"/>
            <p:cNvSpPr/>
            <p:nvPr/>
          </p:nvSpPr>
          <p:spPr>
            <a:xfrm>
              <a:off x="136686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te.layby.2"/>
            <p:cNvSpPr/>
            <p:nvPr/>
          </p:nvSpPr>
          <p:spPr>
            <a:xfrm>
              <a:off x="159923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te.cs.3"/>
            <p:cNvSpPr/>
            <p:nvPr/>
          </p:nvSpPr>
          <p:spPr>
            <a:xfrm>
              <a:off x="1768046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te.layby.4"/>
            <p:cNvSpPr/>
            <p:nvPr/>
          </p:nvSpPr>
          <p:spPr>
            <a:xfrm>
              <a:off x="204072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te.layby.5"/>
            <p:cNvSpPr/>
            <p:nvPr/>
          </p:nvSpPr>
          <p:spPr>
            <a:xfrm>
              <a:off x="224985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te.cs.6"/>
            <p:cNvSpPr/>
            <p:nvPr/>
          </p:nvSpPr>
          <p:spPr>
            <a:xfrm>
              <a:off x="2395432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te.layby.7"/>
            <p:cNvSpPr/>
            <p:nvPr/>
          </p:nvSpPr>
          <p:spPr>
            <a:xfrm>
              <a:off x="270006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te.layby.8"/>
            <p:cNvSpPr/>
            <p:nvPr/>
          </p:nvSpPr>
          <p:spPr>
            <a:xfrm>
              <a:off x="294114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te.layby.9"/>
            <p:cNvSpPr/>
            <p:nvPr/>
          </p:nvSpPr>
          <p:spPr>
            <a:xfrm>
              <a:off x="31822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te.cs.10.chosen"/>
            <p:cNvSpPr/>
            <p:nvPr/>
          </p:nvSpPr>
          <p:spPr>
            <a:xfrm>
              <a:off x="3334601" y="1138428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te.customer.11"/>
            <p:cNvSpPr/>
            <p:nvPr/>
          </p:nvSpPr>
          <p:spPr>
            <a:xfrm>
              <a:off x="3662010" y="1138428"/>
              <a:ext cx="164592" cy="164592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te.layby.12"/>
            <p:cNvSpPr/>
            <p:nvPr/>
          </p:nvSpPr>
          <p:spPr>
            <a:xfrm>
              <a:off x="394031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te.layby.13"/>
            <p:cNvSpPr/>
            <p:nvPr/>
          </p:nvSpPr>
          <p:spPr>
            <a:xfrm>
              <a:off x="41436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te.cs.14"/>
            <p:cNvSpPr/>
            <p:nvPr/>
          </p:nvSpPr>
          <p:spPr>
            <a:xfrm>
              <a:off x="4283399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te.cs.15"/>
            <p:cNvSpPr/>
            <p:nvPr/>
          </p:nvSpPr>
          <p:spPr>
            <a:xfrm>
              <a:off x="4672610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te.layby.16"/>
            <p:cNvSpPr/>
            <p:nvPr/>
          </p:nvSpPr>
          <p:spPr>
            <a:xfrm>
              <a:off x="496465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te.layby.17"/>
            <p:cNvSpPr/>
            <p:nvPr/>
          </p:nvSpPr>
          <p:spPr>
            <a:xfrm>
              <a:off x="519314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te.cs.18"/>
            <p:cNvSpPr/>
            <p:nvPr/>
          </p:nvSpPr>
          <p:spPr>
            <a:xfrm>
              <a:off x="5358088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te.layby.19"/>
            <p:cNvSpPr/>
            <p:nvPr/>
          </p:nvSpPr>
          <p:spPr>
            <a:xfrm>
              <a:off x="570628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te.cs.20.chosen"/>
            <p:cNvSpPr/>
            <p:nvPr/>
          </p:nvSpPr>
          <p:spPr>
            <a:xfrm>
              <a:off x="5902236" y="1138428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te.layby.21"/>
            <p:cNvSpPr/>
            <p:nvPr/>
          </p:nvSpPr>
          <p:spPr>
            <a:xfrm>
              <a:off x="621458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te.layby.22"/>
            <p:cNvSpPr/>
            <p:nvPr/>
          </p:nvSpPr>
          <p:spPr>
            <a:xfrm>
              <a:off x="64382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te.layby.23"/>
            <p:cNvSpPr/>
            <p:nvPr/>
          </p:nvSpPr>
          <p:spPr>
            <a:xfrm>
              <a:off x="666188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te.cs.24"/>
            <p:cNvSpPr/>
            <p:nvPr/>
          </p:nvSpPr>
          <p:spPr>
            <a:xfrm>
              <a:off x="6821988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te.layby.25"/>
            <p:cNvSpPr/>
            <p:nvPr/>
          </p:nvSpPr>
          <p:spPr>
            <a:xfrm>
              <a:off x="711403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te.layby.26"/>
            <p:cNvSpPr/>
            <p:nvPr/>
          </p:nvSpPr>
          <p:spPr>
            <a:xfrm>
              <a:off x="7342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te.cs.27.chosen"/>
            <p:cNvSpPr/>
            <p:nvPr/>
          </p:nvSpPr>
          <p:spPr>
            <a:xfrm>
              <a:off x="7482320" y="1138428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te.layby.28"/>
            <p:cNvSpPr/>
            <p:nvPr/>
          </p:nvSpPr>
          <p:spPr>
            <a:xfrm>
              <a:off x="779950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te.layby.29"/>
            <p:cNvSpPr/>
            <p:nvPr/>
          </p:nvSpPr>
          <p:spPr>
            <a:xfrm>
              <a:off x="802800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te.cs.30"/>
            <p:cNvSpPr/>
            <p:nvPr/>
          </p:nvSpPr>
          <p:spPr>
            <a:xfrm>
              <a:off x="8192943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te.cs.31"/>
            <p:cNvSpPr/>
            <p:nvPr/>
          </p:nvSpPr>
          <p:spPr>
            <a:xfrm>
              <a:off x="8611200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te.layby.32"/>
            <p:cNvSpPr/>
            <p:nvPr/>
          </p:nvSpPr>
          <p:spPr>
            <a:xfrm>
              <a:off x="889549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te.layby.33"/>
            <p:cNvSpPr/>
            <p:nvPr/>
          </p:nvSpPr>
          <p:spPr>
            <a:xfrm>
              <a:off x="911624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te.layby.34"/>
            <p:cNvSpPr/>
            <p:nvPr/>
          </p:nvSpPr>
          <p:spPr>
            <a:xfrm>
              <a:off x="933699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te.cs.35.chosen"/>
            <p:cNvSpPr/>
            <p:nvPr/>
          </p:nvSpPr>
          <p:spPr>
            <a:xfrm>
              <a:off x="9469042" y="1138428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te.layby.36"/>
            <p:cNvSpPr/>
            <p:nvPr/>
          </p:nvSpPr>
          <p:spPr>
            <a:xfrm>
              <a:off x="978235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te.layby.37"/>
            <p:cNvSpPr/>
            <p:nvPr/>
          </p:nvSpPr>
          <p:spPr>
            <a:xfrm>
              <a:off x="1000697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te.cs.38"/>
            <p:cNvSpPr/>
            <p:nvPr/>
          </p:nvSpPr>
          <p:spPr>
            <a:xfrm>
              <a:off x="10168047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te.layby.39"/>
            <p:cNvSpPr/>
            <p:nvPr/>
          </p:nvSpPr>
          <p:spPr>
            <a:xfrm>
              <a:off x="1047558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te.layby.40"/>
            <p:cNvSpPr/>
            <p:nvPr/>
          </p:nvSpPr>
          <p:spPr>
            <a:xfrm>
              <a:off x="1071956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te.cs.41"/>
            <p:cNvSpPr/>
            <p:nvPr/>
          </p:nvSpPr>
          <p:spPr>
            <a:xfrm>
              <a:off x="10899997" y="1179576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te.layby.42"/>
            <p:cNvSpPr/>
            <p:nvPr/>
          </p:nvSpPr>
          <p:spPr>
            <a:xfrm>
              <a:off x="1116880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te.layby.43"/>
            <p:cNvSpPr/>
            <p:nvPr/>
          </p:nvSpPr>
          <p:spPr>
            <a:xfrm>
              <a:off x="1137406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te.ring.10"/>
            <p:cNvSpPr/>
            <p:nvPr/>
          </p:nvSpPr>
          <p:spPr>
            <a:xfrm>
              <a:off x="3275165" y="10652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te.ring.11"/>
            <p:cNvSpPr/>
            <p:nvPr/>
          </p:nvSpPr>
          <p:spPr>
            <a:xfrm>
              <a:off x="3588858" y="10652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te.ring.20"/>
            <p:cNvSpPr/>
            <p:nvPr/>
          </p:nvSpPr>
          <p:spPr>
            <a:xfrm>
              <a:off x="5842800" y="10652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te.ring.27"/>
            <p:cNvSpPr/>
            <p:nvPr/>
          </p:nvSpPr>
          <p:spPr>
            <a:xfrm>
              <a:off x="7422884" y="10652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te.ring.35"/>
            <p:cNvSpPr/>
            <p:nvPr/>
          </p:nvSpPr>
          <p:spPr>
            <a:xfrm>
              <a:off x="9409606" y="10652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te.km.10"/>
            <p:cNvSpPr txBox="1"/>
            <p:nvPr/>
          </p:nvSpPr>
          <p:spPr>
            <a:xfrm>
              <a:off x="3019133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197 km</a:t>
              </a:r>
            </a:p>
          </p:txBody>
        </p:sp>
        <p:sp>
          <p:nvSpPr>
            <p:cNvPr id="57" name="route.km.11"/>
            <p:cNvSpPr txBox="1"/>
            <p:nvPr/>
          </p:nvSpPr>
          <p:spPr>
            <a:xfrm>
              <a:off x="3332826" y="164592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224 km</a:t>
              </a:r>
            </a:p>
          </p:txBody>
        </p:sp>
        <p:sp>
          <p:nvSpPr>
            <p:cNvPr id="58" name="route.km.20"/>
            <p:cNvSpPr txBox="1"/>
            <p:nvPr/>
          </p:nvSpPr>
          <p:spPr>
            <a:xfrm>
              <a:off x="5586768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418 km</a:t>
              </a:r>
            </a:p>
          </p:txBody>
        </p:sp>
        <p:sp>
          <p:nvSpPr>
            <p:cNvPr id="59" name="route.km.27"/>
            <p:cNvSpPr txBox="1"/>
            <p:nvPr/>
          </p:nvSpPr>
          <p:spPr>
            <a:xfrm>
              <a:off x="7166852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554 km</a:t>
              </a:r>
            </a:p>
          </p:txBody>
        </p:sp>
        <p:sp>
          <p:nvSpPr>
            <p:cNvPr id="60" name="route.km.35"/>
            <p:cNvSpPr txBox="1"/>
            <p:nvPr/>
          </p:nvSpPr>
          <p:spPr>
            <a:xfrm>
              <a:off x="9153574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725 km</a:t>
              </a:r>
            </a:p>
          </p:txBody>
        </p:sp>
        <p:sp>
          <p:nvSpPr>
            <p:cNvPr id="61" name="route.node.O"/>
            <p:cNvSpPr/>
            <p:nvPr/>
          </p:nvSpPr>
          <p:spPr>
            <a:xfrm>
              <a:off x="1059520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te.nodelabel.O"/>
            <p:cNvSpPr txBox="1"/>
            <p:nvPr/>
          </p:nvSpPr>
          <p:spPr>
            <a:xfrm>
              <a:off x="867496" y="950976"/>
              <a:ext cx="548640" cy="2194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200" b="1" i="0">
                  <a:solidFill>
                    <a:srgbClr val="222222"/>
                  </a:solidFill>
                  <a:latin typeface="Calibri"/>
                </a:rPr>
                <a:t>O</a:t>
              </a:r>
            </a:p>
          </p:txBody>
        </p:sp>
        <p:sp>
          <p:nvSpPr>
            <p:cNvPr id="63" name="route.kmlabel.O"/>
            <p:cNvSpPr txBox="1"/>
            <p:nvPr/>
          </p:nvSpPr>
          <p:spPr>
            <a:xfrm>
              <a:off x="730336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0" i="0">
                  <a:solidFill>
                    <a:srgbClr val="222222"/>
                  </a:solidFill>
                  <a:latin typeface="Calibri"/>
                </a:rPr>
                <a:t>0 km</a:t>
              </a:r>
            </a:p>
          </p:txBody>
        </p:sp>
        <p:sp>
          <p:nvSpPr>
            <p:cNvPr id="64" name="route.node.D"/>
            <p:cNvSpPr/>
            <p:nvPr/>
          </p:nvSpPr>
          <p:spPr>
            <a:xfrm>
              <a:off x="11504335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te.nodelabel.D"/>
            <p:cNvSpPr txBox="1"/>
            <p:nvPr/>
          </p:nvSpPr>
          <p:spPr>
            <a:xfrm>
              <a:off x="11312311" y="950976"/>
              <a:ext cx="548640" cy="2194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200" b="1" i="0">
                  <a:solidFill>
                    <a:srgbClr val="222222"/>
                  </a:solidFill>
                  <a:latin typeface="Calibri"/>
                </a:rPr>
                <a:t>D</a:t>
              </a:r>
            </a:p>
          </p:txBody>
        </p:sp>
        <p:sp>
          <p:nvSpPr>
            <p:cNvPr id="66" name="route.kmlabel.D"/>
            <p:cNvSpPr txBox="1"/>
            <p:nvPr/>
          </p:nvSpPr>
          <p:spPr>
            <a:xfrm>
              <a:off x="11175151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0" i="0">
                  <a:solidFill>
                    <a:srgbClr val="222222"/>
                  </a:solidFill>
                  <a:latin typeface="Calibri"/>
                </a:rPr>
                <a:t>899 km</a:t>
              </a:r>
            </a:p>
          </p:txBody>
        </p:sp>
        <p:sp>
          <p:nvSpPr>
            <p:cNvPr id="67" name="route.C1"/>
            <p:cNvSpPr txBox="1"/>
            <p:nvPr/>
          </p:nvSpPr>
          <p:spPr>
            <a:xfrm>
              <a:off x="3835746" y="932688"/>
              <a:ext cx="457200" cy="20116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7A3D0D"/>
                  </a:solidFill>
                  <a:latin typeface="Calibri"/>
                </a:rPr>
                <a:t>C1</a:t>
              </a:r>
            </a:p>
          </p:txBody>
        </p:sp>
      </p:grpSp>
      <p:grpSp>
        <p:nvGrpSpPr>
          <p:cNvPr id="68" name="legend"/>
          <p:cNvGrpSpPr/>
          <p:nvPr/>
        </p:nvGrpSpPr>
        <p:grpSpPr>
          <a:xfrm>
            <a:off x="6419088" y="329184"/>
            <a:ext cx="5413248" cy="329184"/>
            <a:chOff x="6419088" y="329184"/>
            <a:chExt cx="5413248" cy="329184"/>
          </a:xfrm>
        </p:grpSpPr>
        <p:sp>
          <p:nvSpPr>
            <p:cNvPr id="69" name="legend.frame"/>
            <p:cNvSpPr/>
            <p:nvPr/>
          </p:nvSpPr>
          <p:spPr>
            <a:xfrm>
              <a:off x="6419088" y="329184"/>
              <a:ext cx="5413248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41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legend.layby"/>
            <p:cNvSpPr/>
            <p:nvPr/>
          </p:nvSpPr>
          <p:spPr>
            <a:xfrm>
              <a:off x="6583679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.layby.txt"/>
            <p:cNvSpPr txBox="1"/>
            <p:nvPr/>
          </p:nvSpPr>
          <p:spPr>
            <a:xfrm>
              <a:off x="6656831" y="406908"/>
              <a:ext cx="77724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Rest area</a:t>
              </a:r>
            </a:p>
          </p:txBody>
        </p:sp>
        <p:sp>
          <p:nvSpPr>
            <p:cNvPr id="72" name="legend.cs"/>
            <p:cNvSpPr/>
            <p:nvPr/>
          </p:nvSpPr>
          <p:spPr>
            <a:xfrm>
              <a:off x="7534656" y="411479"/>
              <a:ext cx="155448" cy="137160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legend.cs.txt"/>
            <p:cNvSpPr txBox="1"/>
            <p:nvPr/>
          </p:nvSpPr>
          <p:spPr>
            <a:xfrm>
              <a:off x="7754112" y="406908"/>
              <a:ext cx="132588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Charging station</a:t>
              </a:r>
            </a:p>
          </p:txBody>
        </p:sp>
        <p:sp>
          <p:nvSpPr>
            <p:cNvPr id="74" name="legend.cust"/>
            <p:cNvSpPr/>
            <p:nvPr/>
          </p:nvSpPr>
          <p:spPr>
            <a:xfrm>
              <a:off x="9180576" y="411479"/>
              <a:ext cx="146304" cy="146304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legend.cust.txt"/>
            <p:cNvSpPr txBox="1"/>
            <p:nvPr/>
          </p:nvSpPr>
          <p:spPr>
            <a:xfrm>
              <a:off x="9390888" y="406908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Customer</a:t>
              </a:r>
            </a:p>
          </p:txBody>
        </p:sp>
        <p:sp>
          <p:nvSpPr>
            <p:cNvPr id="76" name="legend.ring"/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9050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egend.ring.txt"/>
            <p:cNvSpPr txBox="1"/>
            <p:nvPr/>
          </p:nvSpPr>
          <p:spPr>
            <a:xfrm>
              <a:off x="10488167" y="406908"/>
              <a:ext cx="132588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Stop used by the solution</a:t>
              </a:r>
            </a:p>
          </p:txBody>
        </p:sp>
      </p:grpSp>
      <p:grpSp>
        <p:nvGrpSpPr>
          <p:cNvPr id="78" name="panel.callouts"/>
          <p:cNvGrpSpPr/>
          <p:nvPr/>
        </p:nvGrpSpPr>
        <p:grpSpPr>
          <a:xfrm>
            <a:off x="-43518" y="1938528"/>
            <a:ext cx="12089324" cy="841248"/>
            <a:chOff x="-43518" y="1938528"/>
            <a:chExt cx="12089324" cy="841248"/>
          </a:xfrm>
        </p:grpSpPr>
        <p:sp>
          <p:nvSpPr>
            <p:cNvPr id="79" name="callout.10.txt"/>
            <p:cNvSpPr txBox="1"/>
            <p:nvPr/>
          </p:nvSpPr>
          <p:spPr>
            <a:xfrm>
              <a:off x="-43518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15 min break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(1st split,  g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τ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 baseline="30000">
                  <a:solidFill>
                    <a:srgbClr val="444444"/>
                  </a:solidFill>
                  <a:latin typeface="Calibri"/>
                </a:rPr>
                <a:t>c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)</a:t>
              </a:r>
            </a:p>
          </p:txBody>
        </p:sp>
        <p:cxnSp>
          <p:nvCxnSpPr>
            <p:cNvPr id="80" name="callout.10.leader"/>
            <p:cNvCxnSpPr/>
            <p:nvPr/>
          </p:nvCxnSpPr>
          <p:spPr>
            <a:xfrm>
              <a:off x="1145201" y="2304288"/>
              <a:ext cx="1062838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callout.11.txt"/>
            <p:cNvSpPr txBox="1"/>
            <p:nvPr/>
          </p:nvSpPr>
          <p:spPr>
            <a:xfrm>
              <a:off x="1954112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Service + 30 min break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(2nd split)</a:t>
              </a:r>
            </a:p>
          </p:txBody>
        </p:sp>
        <p:cxnSp>
          <p:nvCxnSpPr>
            <p:cNvPr id="82" name="callout.11.leader"/>
            <p:cNvCxnSpPr/>
            <p:nvPr/>
          </p:nvCxnSpPr>
          <p:spPr>
            <a:xfrm flipH="1">
              <a:off x="2683840" y="2304288"/>
              <a:ext cx="458992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callout.20.txt"/>
            <p:cNvSpPr txBox="1"/>
            <p:nvPr/>
          </p:nvSpPr>
          <p:spPr>
            <a:xfrm>
              <a:off x="5375585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Charge, then 9 h rest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(sequential:  σ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1,  g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0)</a:t>
              </a:r>
            </a:p>
          </p:txBody>
        </p:sp>
        <p:cxnSp>
          <p:nvCxnSpPr>
            <p:cNvPr id="84" name="callout.20.leader"/>
            <p:cNvCxnSpPr/>
            <p:nvPr/>
          </p:nvCxnSpPr>
          <p:spPr>
            <a:xfrm flipH="1">
              <a:off x="6047342" y="2304288"/>
              <a:ext cx="516963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callout.27.txt"/>
            <p:cNvSpPr txBox="1"/>
            <p:nvPr/>
          </p:nvSpPr>
          <p:spPr>
            <a:xfrm>
              <a:off x="8010757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45 min break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(g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τ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 baseline="30000">
                  <a:solidFill>
                    <a:srgbClr val="444444"/>
                  </a:solidFill>
                  <a:latin typeface="Calibri"/>
                </a:rPr>
                <a:t>c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)</a:t>
              </a:r>
            </a:p>
          </p:txBody>
        </p:sp>
        <p:cxnSp>
          <p:nvCxnSpPr>
            <p:cNvPr id="86" name="callout.27.leader"/>
            <p:cNvCxnSpPr/>
            <p:nvPr/>
          </p:nvCxnSpPr>
          <p:spPr>
            <a:xfrm>
              <a:off x="9199477" y="2304288"/>
              <a:ext cx="8998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callout.35.txt"/>
            <p:cNvSpPr txBox="1"/>
            <p:nvPr/>
          </p:nvSpPr>
          <p:spPr>
            <a:xfrm>
              <a:off x="9668366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45 min break</a:t>
              </a:r>
            </a:p>
          </p:txBody>
        </p:sp>
        <p:cxnSp>
          <p:nvCxnSpPr>
            <p:cNvPr id="88" name="callout.35.leader"/>
            <p:cNvCxnSpPr/>
            <p:nvPr/>
          </p:nvCxnSpPr>
          <p:spPr>
            <a:xfrm flipH="1">
              <a:off x="10580122" y="2135124"/>
              <a:ext cx="276964" cy="598932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micro.Mstop.txt"/>
            <p:cNvSpPr txBox="1"/>
            <p:nvPr/>
          </p:nvSpPr>
          <p:spPr>
            <a:xfrm>
              <a:off x="1529674" y="2459736"/>
              <a:ext cx="54864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M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  <a:r>
                <a:rPr sz="1000" b="0" i="1" baseline="30000">
                  <a:solidFill>
                    <a:srgbClr val="222222"/>
                  </a:solidFill>
                  <a:latin typeface="Calibri"/>
                </a:rPr>
                <a:t>stop</a:t>
              </a:r>
            </a:p>
          </p:txBody>
        </p:sp>
        <p:cxnSp>
          <p:nvCxnSpPr>
            <p:cNvPr id="90" name="micro.leader"/>
            <p:cNvCxnSpPr/>
            <p:nvPr/>
          </p:nvCxnSpPr>
          <p:spPr>
            <a:xfrm>
              <a:off x="1803994" y="2633472"/>
              <a:ext cx="306205" cy="146304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micro.Qi.txt"/>
            <p:cNvSpPr txBox="1"/>
            <p:nvPr/>
          </p:nvSpPr>
          <p:spPr>
            <a:xfrm>
              <a:off x="1912199" y="2295144"/>
              <a:ext cx="54864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Q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</a:p>
          </p:txBody>
        </p:sp>
        <p:cxnSp>
          <p:nvCxnSpPr>
            <p:cNvPr id="92" name="micro.leader"/>
            <p:cNvCxnSpPr/>
            <p:nvPr/>
          </p:nvCxnSpPr>
          <p:spPr>
            <a:xfrm flipH="1">
              <a:off x="2163932" y="2468879"/>
              <a:ext cx="22587" cy="310897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icro.τc.txt"/>
            <p:cNvSpPr txBox="1"/>
            <p:nvPr/>
          </p:nvSpPr>
          <p:spPr>
            <a:xfrm>
              <a:off x="2209719" y="2487168"/>
              <a:ext cx="54864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τ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  <a:r>
                <a:rPr sz="1000" b="0" i="1" baseline="30000">
                  <a:solidFill>
                    <a:srgbClr val="222222"/>
                  </a:solidFill>
                  <a:latin typeface="Calibri"/>
                </a:rPr>
                <a:t>c</a:t>
              </a:r>
            </a:p>
          </p:txBody>
        </p:sp>
        <p:cxnSp>
          <p:nvCxnSpPr>
            <p:cNvPr id="94" name="micro.leader"/>
            <p:cNvCxnSpPr/>
            <p:nvPr/>
          </p:nvCxnSpPr>
          <p:spPr>
            <a:xfrm flipH="1">
              <a:off x="2261771" y="2660903"/>
              <a:ext cx="222268" cy="11887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micro.Mseq.txt"/>
            <p:cNvSpPr txBox="1"/>
            <p:nvPr/>
          </p:nvSpPr>
          <p:spPr>
            <a:xfrm>
              <a:off x="4462366" y="2340864"/>
              <a:ext cx="54864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M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  <a:r>
                <a:rPr sz="1000" b="0" i="1" baseline="30000">
                  <a:solidFill>
                    <a:srgbClr val="222222"/>
                  </a:solidFill>
                  <a:latin typeface="Calibri"/>
                </a:rPr>
                <a:t>seq</a:t>
              </a:r>
            </a:p>
          </p:txBody>
        </p:sp>
        <p:cxnSp>
          <p:nvCxnSpPr>
            <p:cNvPr id="96" name="micro.leader"/>
            <p:cNvCxnSpPr/>
            <p:nvPr/>
          </p:nvCxnSpPr>
          <p:spPr>
            <a:xfrm flipH="1">
              <a:off x="4307513" y="2514600"/>
              <a:ext cx="429173" cy="265176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panel.truck"/>
          <p:cNvGrpSpPr/>
          <p:nvPr/>
        </p:nvGrpSpPr>
        <p:grpSpPr>
          <a:xfrm>
            <a:off x="91440" y="2761488"/>
            <a:ext cx="11704320" cy="438912"/>
            <a:chOff x="91440" y="2761488"/>
            <a:chExt cx="11704320" cy="438912"/>
          </a:xfrm>
        </p:grpSpPr>
        <p:sp>
          <p:nvSpPr>
            <p:cNvPr id="98" name="truck.label"/>
            <p:cNvSpPr txBox="1"/>
            <p:nvPr/>
          </p:nvSpPr>
          <p:spPr>
            <a:xfrm>
              <a:off x="91440" y="2871215"/>
              <a:ext cx="731520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Truck</a:t>
              </a:r>
            </a:p>
          </p:txBody>
        </p:sp>
        <p:sp>
          <p:nvSpPr>
            <p:cNvPr id="99" name="truck.frame"/>
            <p:cNvSpPr/>
            <p:nvPr/>
          </p:nvSpPr>
          <p:spPr>
            <a:xfrm>
              <a:off x="932688" y="2761488"/>
              <a:ext cx="10863072" cy="438912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truck.drive@8.0"/>
            <p:cNvSpPr/>
            <p:nvPr/>
          </p:nvSpPr>
          <p:spPr>
            <a:xfrm>
              <a:off x="1081443" y="2792577"/>
              <a:ext cx="99333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1" name="truck.drive@11.0"/>
            <p:cNvSpPr/>
            <p:nvPr/>
          </p:nvSpPr>
          <p:spPr>
            <a:xfrm>
              <a:off x="2341299" y="2792577"/>
              <a:ext cx="13003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ruck.drive@12.3"/>
            <p:cNvSpPr/>
            <p:nvPr/>
          </p:nvSpPr>
          <p:spPr>
            <a:xfrm>
              <a:off x="2896349" y="2792577"/>
              <a:ext cx="1047872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3" name="truck.drive@24.6"/>
            <p:cNvSpPr/>
            <p:nvPr/>
          </p:nvSpPr>
          <p:spPr>
            <a:xfrm>
              <a:off x="8150463" y="2792577"/>
              <a:ext cx="80254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4" name="truck.drive@27.7"/>
            <p:cNvSpPr/>
            <p:nvPr/>
          </p:nvSpPr>
          <p:spPr>
            <a:xfrm>
              <a:off x="9463946" y="2792577"/>
              <a:ext cx="91562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5" name="truck.drive@30.8"/>
            <p:cNvSpPr/>
            <p:nvPr/>
          </p:nvSpPr>
          <p:spPr>
            <a:xfrm>
              <a:off x="10780677" y="2792577"/>
              <a:ext cx="86632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6" name="truck.mstop@10.3"/>
            <p:cNvSpPr/>
            <p:nvPr/>
          </p:nvSpPr>
          <p:spPr>
            <a:xfrm>
              <a:off x="2074780" y="2792577"/>
              <a:ext cx="7083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ruck.queue@10.5"/>
            <p:cNvSpPr/>
            <p:nvPr/>
          </p:nvSpPr>
          <p:spPr>
            <a:xfrm>
              <a:off x="2145618" y="2792577"/>
              <a:ext cx="36629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ruck.charge@10.6"/>
            <p:cNvSpPr/>
            <p:nvPr/>
          </p:nvSpPr>
          <p:spPr>
            <a:xfrm>
              <a:off x="2182247" y="2792577"/>
              <a:ext cx="159048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truck.idle@11.0"/>
            <p:cNvSpPr/>
            <p:nvPr/>
          </p:nvSpPr>
          <p:spPr>
            <a:xfrm>
              <a:off x="2341295" y="2792577"/>
              <a:ext cx="4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truck.idle@11.3"/>
            <p:cNvSpPr/>
            <p:nvPr/>
          </p:nvSpPr>
          <p:spPr>
            <a:xfrm>
              <a:off x="2471330" y="2792577"/>
              <a:ext cx="425018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ruck.mstop@14.7"/>
            <p:cNvSpPr/>
            <p:nvPr/>
          </p:nvSpPr>
          <p:spPr>
            <a:xfrm>
              <a:off x="3944222" y="2792577"/>
              <a:ext cx="7083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ruck.queue@14.9"/>
            <p:cNvSpPr/>
            <p:nvPr/>
          </p:nvSpPr>
          <p:spPr>
            <a:xfrm>
              <a:off x="4015060" y="2792577"/>
              <a:ext cx="53775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ruck.charge@15.0"/>
            <p:cNvSpPr/>
            <p:nvPr/>
          </p:nvSpPr>
          <p:spPr>
            <a:xfrm>
              <a:off x="4068835" y="2792577"/>
              <a:ext cx="220968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truck.mseq@15.5"/>
            <p:cNvSpPr/>
            <p:nvPr/>
          </p:nvSpPr>
          <p:spPr>
            <a:xfrm>
              <a:off x="4289804" y="2792577"/>
              <a:ext cx="35418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ruck.idle@15.6"/>
            <p:cNvSpPr/>
            <p:nvPr/>
          </p:nvSpPr>
          <p:spPr>
            <a:xfrm>
              <a:off x="4325223" y="2792577"/>
              <a:ext cx="3825249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ruck.mstop@26.5"/>
            <p:cNvSpPr/>
            <p:nvPr/>
          </p:nvSpPr>
          <p:spPr>
            <a:xfrm>
              <a:off x="8953004" y="2792577"/>
              <a:ext cx="7083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ruck.queue@26.7"/>
            <p:cNvSpPr/>
            <p:nvPr/>
          </p:nvSpPr>
          <p:spPr>
            <a:xfrm>
              <a:off x="9023842" y="2792577"/>
              <a:ext cx="121325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truck.charge@27.0"/>
            <p:cNvSpPr/>
            <p:nvPr/>
          </p:nvSpPr>
          <p:spPr>
            <a:xfrm>
              <a:off x="9145167" y="2792577"/>
              <a:ext cx="318774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ruck.idle@27.7"/>
            <p:cNvSpPr/>
            <p:nvPr/>
          </p:nvSpPr>
          <p:spPr>
            <a:xfrm>
              <a:off x="9463942" y="2792577"/>
              <a:ext cx="3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truck.mstop@29.9"/>
            <p:cNvSpPr/>
            <p:nvPr/>
          </p:nvSpPr>
          <p:spPr>
            <a:xfrm>
              <a:off x="10379567" y="2792577"/>
              <a:ext cx="7083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ruck.queue@30.0"/>
            <p:cNvSpPr/>
            <p:nvPr/>
          </p:nvSpPr>
          <p:spPr>
            <a:xfrm>
              <a:off x="10450405" y="2792577"/>
              <a:ext cx="11507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truck.charge@30.1"/>
            <p:cNvSpPr/>
            <p:nvPr/>
          </p:nvSpPr>
          <p:spPr>
            <a:xfrm>
              <a:off x="10461913" y="2792577"/>
              <a:ext cx="318765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ruck.parked.txt"/>
            <p:cNvSpPr txBox="1"/>
            <p:nvPr/>
          </p:nvSpPr>
          <p:spPr>
            <a:xfrm>
              <a:off x="5323448" y="2889503"/>
              <a:ext cx="1828800" cy="1828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900" b="0" i="1">
                  <a:solidFill>
                    <a:srgbClr val="777777"/>
                  </a:solidFill>
                  <a:latin typeface="Calibri"/>
                </a:rPr>
                <a:t>truck parked  (</a:t>
              </a:r>
              <a:r>
                <a:rPr sz="900" b="0" i="1">
                  <a:solidFill>
                    <a:srgbClr val="777777"/>
                  </a:solidFill>
                  <a:latin typeface="Calibri"/>
                </a:rPr>
                <a:t>τ</a:t>
              </a:r>
              <a:r>
                <a:rPr sz="900" b="0" i="1" baseline="-25000">
                  <a:solidFill>
                    <a:srgbClr val="777777"/>
                  </a:solidFill>
                  <a:latin typeface="Calibri"/>
                </a:rPr>
                <a:t>i</a:t>
              </a:r>
              <a:r>
                <a:rPr sz="900" b="0" i="1" baseline="30000">
                  <a:solidFill>
                    <a:srgbClr val="777777"/>
                  </a:solidFill>
                  <a:latin typeface="Calibri"/>
                </a:rPr>
                <a:t>r</a:t>
              </a:r>
              <a:r>
                <a:rPr sz="900" b="0" i="1">
                  <a:solidFill>
                    <a:srgbClr val="777777"/>
                  </a:solidFill>
                  <a:latin typeface="Calibri"/>
                </a:rPr>
                <a:t>)</a:t>
              </a:r>
            </a:p>
          </p:txBody>
        </p:sp>
      </p:grpSp>
      <p:grpSp>
        <p:nvGrpSpPr>
          <p:cNvPr id="124" name="panel.soc"/>
          <p:cNvGrpSpPr/>
          <p:nvPr/>
        </p:nvGrpSpPr>
        <p:grpSpPr>
          <a:xfrm>
            <a:off x="91440" y="3383280"/>
            <a:ext cx="12097512" cy="822960"/>
            <a:chOff x="91440" y="3383280"/>
            <a:chExt cx="12097512" cy="822960"/>
          </a:xfrm>
        </p:grpSpPr>
        <p:sp>
          <p:nvSpPr>
            <p:cNvPr id="125" name="soc.label"/>
            <p:cNvSpPr txBox="1"/>
            <p:nvPr/>
          </p:nvSpPr>
          <p:spPr>
            <a:xfrm>
              <a:off x="91440" y="3593592"/>
              <a:ext cx="777240" cy="4114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SOC</a:t>
              </a:r>
            </a:p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[kWh]</a:t>
              </a:r>
            </a:p>
          </p:txBody>
        </p:sp>
        <p:sp>
          <p:nvSpPr>
            <p:cNvPr id="126" name="soc.chargeband@10.6"/>
            <p:cNvSpPr/>
            <p:nvPr/>
          </p:nvSpPr>
          <p:spPr>
            <a:xfrm>
              <a:off x="2182247" y="3392424"/>
              <a:ext cx="159048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oc.chargeband@15.0"/>
            <p:cNvSpPr/>
            <p:nvPr/>
          </p:nvSpPr>
          <p:spPr>
            <a:xfrm>
              <a:off x="4068835" y="3392424"/>
              <a:ext cx="220968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oc.chargeband@27.0"/>
            <p:cNvSpPr/>
            <p:nvPr/>
          </p:nvSpPr>
          <p:spPr>
            <a:xfrm>
              <a:off x="9145167" y="3392424"/>
              <a:ext cx="318774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oc.chargeband@30.1"/>
            <p:cNvSpPr/>
            <p:nvPr/>
          </p:nvSpPr>
          <p:spPr>
            <a:xfrm>
              <a:off x="10461913" y="3392424"/>
              <a:ext cx="318765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oc.frame"/>
            <p:cNvSpPr/>
            <p:nvPr/>
          </p:nvSpPr>
          <p:spPr>
            <a:xfrm>
              <a:off x="932688" y="3383280"/>
              <a:ext cx="10863072" cy="822960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1" name="soc.Ecap.line"/>
            <p:cNvCxnSpPr/>
            <p:nvPr/>
          </p:nvCxnSpPr>
          <p:spPr>
            <a:xfrm>
              <a:off x="932688" y="3471454"/>
              <a:ext cx="10863072" cy="0"/>
            </a:xfrm>
            <a:prstGeom prst="line">
              <a:avLst/>
            </a:prstGeom>
            <a:ln w="12700">
              <a:solidFill>
                <a:srgbClr val="88888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oc.Emin.line"/>
            <p:cNvCxnSpPr/>
            <p:nvPr/>
          </p:nvCxnSpPr>
          <p:spPr>
            <a:xfrm>
              <a:off x="932688" y="4059282"/>
              <a:ext cx="10863072" cy="0"/>
            </a:xfrm>
            <a:prstGeom prst="line">
              <a:avLst/>
            </a:prstGeom>
            <a:ln w="12700">
              <a:solidFill>
                <a:srgbClr val="D6272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soc.Ecap.txt"/>
            <p:cNvSpPr txBox="1"/>
            <p:nvPr/>
          </p:nvSpPr>
          <p:spPr>
            <a:xfrm>
              <a:off x="11823192" y="3389158"/>
              <a:ext cx="36576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666666"/>
                  </a:solidFill>
                  <a:latin typeface="Calibri"/>
                </a:rPr>
                <a:t>E</a:t>
              </a:r>
              <a:r>
                <a:rPr sz="900" b="0" i="0" baseline="30000">
                  <a:solidFill>
                    <a:srgbClr val="666666"/>
                  </a:solidFill>
                  <a:latin typeface="Calibri"/>
                </a:rPr>
                <a:t>cap</a:t>
              </a:r>
            </a:p>
          </p:txBody>
        </p:sp>
        <p:sp>
          <p:nvSpPr>
            <p:cNvPr id="134" name="soc.Emin.txt"/>
            <p:cNvSpPr txBox="1"/>
            <p:nvPr/>
          </p:nvSpPr>
          <p:spPr>
            <a:xfrm>
              <a:off x="11823192" y="3976986"/>
              <a:ext cx="36576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D62728"/>
                  </a:solidFill>
                  <a:latin typeface="Calibri"/>
                </a:rPr>
                <a:t>E</a:t>
              </a:r>
              <a:r>
                <a:rPr sz="900" b="0" i="0" baseline="30000">
                  <a:solidFill>
                    <a:srgbClr val="D62728"/>
                  </a:solidFill>
                  <a:latin typeface="Calibri"/>
                </a:rPr>
                <a:t>min</a:t>
              </a:r>
            </a:p>
          </p:txBody>
        </p:sp>
        <p:sp>
          <p:nvSpPr>
            <p:cNvPr id="135" name="soc.ytick.100"/>
            <p:cNvSpPr txBox="1"/>
            <p:nvPr/>
          </p:nvSpPr>
          <p:spPr>
            <a:xfrm>
              <a:off x="548640" y="3976986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136" name="soc.ytick.300"/>
            <p:cNvSpPr txBox="1"/>
            <p:nvPr/>
          </p:nvSpPr>
          <p:spPr>
            <a:xfrm>
              <a:off x="548640" y="3683072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300</a:t>
              </a:r>
            </a:p>
          </p:txBody>
        </p:sp>
        <p:sp>
          <p:nvSpPr>
            <p:cNvPr id="137" name="soc.ytick.500"/>
            <p:cNvSpPr txBox="1"/>
            <p:nvPr/>
          </p:nvSpPr>
          <p:spPr>
            <a:xfrm>
              <a:off x="548640" y="3389158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500</a:t>
              </a:r>
            </a:p>
          </p:txBody>
        </p:sp>
        <p:sp>
          <p:nvSpPr>
            <p:cNvPr id="138" name="soc.curve"/>
            <p:cNvSpPr/>
            <p:nvPr/>
          </p:nvSpPr>
          <p:spPr>
            <a:xfrm>
              <a:off x="1081443" y="3471449"/>
              <a:ext cx="10565557" cy="551432"/>
            </a:xfrm>
            <a:custGeom>
              <a:avLst/>
              <a:gdLst/>
              <a:ahLst/>
              <a:cxnLst/>
              <a:rect l="l" t="t" r="r" b="b"/>
              <a:pathLst>
                <a:path w="10565557" h="551432">
                  <a:moveTo>
                    <a:pt x="4" y="5"/>
                  </a:moveTo>
                  <a:lnTo>
                    <a:pt x="0" y="0"/>
                  </a:lnTo>
                  <a:lnTo>
                    <a:pt x="97548" y="33849"/>
                  </a:lnTo>
                  <a:lnTo>
                    <a:pt x="97572" y="33861"/>
                  </a:lnTo>
                  <a:lnTo>
                    <a:pt x="202317" y="66400"/>
                  </a:lnTo>
                  <a:lnTo>
                    <a:pt x="202289" y="66399"/>
                  </a:lnTo>
                  <a:lnTo>
                    <a:pt x="305557" y="99171"/>
                  </a:lnTo>
                  <a:lnTo>
                    <a:pt x="305549" y="99161"/>
                  </a:lnTo>
                  <a:lnTo>
                    <a:pt x="395153" y="129254"/>
                  </a:lnTo>
                  <a:lnTo>
                    <a:pt x="395155" y="129255"/>
                  </a:lnTo>
                  <a:lnTo>
                    <a:pt x="484153" y="159468"/>
                  </a:lnTo>
                  <a:lnTo>
                    <a:pt x="484162" y="159469"/>
                  </a:lnTo>
                  <a:lnTo>
                    <a:pt x="573452" y="189624"/>
                  </a:lnTo>
                  <a:lnTo>
                    <a:pt x="573457" y="189619"/>
                  </a:lnTo>
                  <a:lnTo>
                    <a:pt x="679836" y="223747"/>
                  </a:lnTo>
                  <a:lnTo>
                    <a:pt x="679832" y="223753"/>
                  </a:lnTo>
                  <a:lnTo>
                    <a:pt x="781460" y="258782"/>
                  </a:lnTo>
                  <a:lnTo>
                    <a:pt x="781450" y="258781"/>
                  </a:lnTo>
                  <a:lnTo>
                    <a:pt x="891755" y="292303"/>
                  </a:lnTo>
                  <a:lnTo>
                    <a:pt x="891762" y="292312"/>
                  </a:lnTo>
                  <a:lnTo>
                    <a:pt x="993337" y="327352"/>
                  </a:lnTo>
                  <a:lnTo>
                    <a:pt x="1100804" y="327352"/>
                  </a:lnTo>
                  <a:lnTo>
                    <a:pt x="1259852" y="192731"/>
                  </a:lnTo>
                  <a:lnTo>
                    <a:pt x="1259856" y="192731"/>
                  </a:lnTo>
                  <a:lnTo>
                    <a:pt x="1389887" y="238795"/>
                  </a:lnTo>
                  <a:lnTo>
                    <a:pt x="1814906" y="238794"/>
                  </a:lnTo>
                  <a:lnTo>
                    <a:pt x="1916539" y="266129"/>
                  </a:lnTo>
                  <a:lnTo>
                    <a:pt x="1916527" y="266137"/>
                  </a:lnTo>
                  <a:lnTo>
                    <a:pt x="2005158" y="295109"/>
                  </a:lnTo>
                  <a:lnTo>
                    <a:pt x="2005172" y="295107"/>
                  </a:lnTo>
                  <a:lnTo>
                    <a:pt x="2101001" y="323017"/>
                  </a:lnTo>
                  <a:lnTo>
                    <a:pt x="2101016" y="323011"/>
                  </a:lnTo>
                  <a:lnTo>
                    <a:pt x="2298724" y="375098"/>
                  </a:lnTo>
                  <a:lnTo>
                    <a:pt x="2298729" y="375093"/>
                  </a:lnTo>
                  <a:lnTo>
                    <a:pt x="2396183" y="408061"/>
                  </a:lnTo>
                  <a:lnTo>
                    <a:pt x="2396179" y="408065"/>
                  </a:lnTo>
                  <a:lnTo>
                    <a:pt x="2495130" y="440744"/>
                  </a:lnTo>
                  <a:lnTo>
                    <a:pt x="2495124" y="440742"/>
                  </a:lnTo>
                  <a:lnTo>
                    <a:pt x="2596201" y="473045"/>
                  </a:lnTo>
                  <a:lnTo>
                    <a:pt x="2596179" y="473043"/>
                  </a:lnTo>
                  <a:lnTo>
                    <a:pt x="2727067" y="512533"/>
                  </a:lnTo>
                  <a:lnTo>
                    <a:pt x="2727075" y="512536"/>
                  </a:lnTo>
                  <a:lnTo>
                    <a:pt x="2862779" y="551432"/>
                  </a:lnTo>
                  <a:lnTo>
                    <a:pt x="2987392" y="551432"/>
                  </a:lnTo>
                  <a:lnTo>
                    <a:pt x="3075323" y="440876"/>
                  </a:lnTo>
                  <a:lnTo>
                    <a:pt x="3208361" y="328271"/>
                  </a:lnTo>
                  <a:lnTo>
                    <a:pt x="7069020" y="328271"/>
                  </a:lnTo>
                  <a:lnTo>
                    <a:pt x="7216296" y="357772"/>
                  </a:lnTo>
                  <a:lnTo>
                    <a:pt x="7216319" y="357777"/>
                  </a:lnTo>
                  <a:lnTo>
                    <a:pt x="7335091" y="387399"/>
                  </a:lnTo>
                  <a:lnTo>
                    <a:pt x="7335067" y="387400"/>
                  </a:lnTo>
                  <a:lnTo>
                    <a:pt x="7438840" y="418304"/>
                  </a:lnTo>
                  <a:lnTo>
                    <a:pt x="7438872" y="418300"/>
                  </a:lnTo>
                  <a:lnTo>
                    <a:pt x="7536894" y="450076"/>
                  </a:lnTo>
                  <a:lnTo>
                    <a:pt x="7536895" y="450086"/>
                  </a:lnTo>
                  <a:lnTo>
                    <a:pt x="7674135" y="480011"/>
                  </a:lnTo>
                  <a:lnTo>
                    <a:pt x="7674110" y="480006"/>
                  </a:lnTo>
                  <a:lnTo>
                    <a:pt x="7774399" y="512444"/>
                  </a:lnTo>
                  <a:lnTo>
                    <a:pt x="7774399" y="512439"/>
                  </a:lnTo>
                  <a:lnTo>
                    <a:pt x="7871561" y="545466"/>
                  </a:lnTo>
                  <a:lnTo>
                    <a:pt x="8063724" y="545466"/>
                  </a:lnTo>
                  <a:lnTo>
                    <a:pt x="8146910" y="440876"/>
                  </a:lnTo>
                  <a:lnTo>
                    <a:pt x="8382499" y="241471"/>
                  </a:lnTo>
                  <a:lnTo>
                    <a:pt x="8382503" y="241471"/>
                  </a:lnTo>
                  <a:lnTo>
                    <a:pt x="8480966" y="274242"/>
                  </a:lnTo>
                  <a:lnTo>
                    <a:pt x="8480968" y="274240"/>
                  </a:lnTo>
                  <a:lnTo>
                    <a:pt x="8577574" y="307380"/>
                  </a:lnTo>
                  <a:lnTo>
                    <a:pt x="8577560" y="307391"/>
                  </a:lnTo>
                  <a:lnTo>
                    <a:pt x="8692162" y="338080"/>
                  </a:lnTo>
                  <a:lnTo>
                    <a:pt x="8692175" y="338082"/>
                  </a:lnTo>
                  <a:lnTo>
                    <a:pt x="8907906" y="393835"/>
                  </a:lnTo>
                  <a:lnTo>
                    <a:pt x="8907912" y="393831"/>
                  </a:lnTo>
                  <a:lnTo>
                    <a:pt x="8999840" y="426151"/>
                  </a:lnTo>
                  <a:lnTo>
                    <a:pt x="8999823" y="426142"/>
                  </a:lnTo>
                  <a:lnTo>
                    <a:pt x="9096873" y="457453"/>
                  </a:lnTo>
                  <a:lnTo>
                    <a:pt x="9096889" y="457459"/>
                  </a:lnTo>
                  <a:lnTo>
                    <a:pt x="9191017" y="489313"/>
                  </a:lnTo>
                  <a:lnTo>
                    <a:pt x="9191005" y="489310"/>
                  </a:lnTo>
                  <a:lnTo>
                    <a:pt x="9298124" y="519278"/>
                  </a:lnTo>
                  <a:lnTo>
                    <a:pt x="9380470" y="519278"/>
                  </a:lnTo>
                  <a:lnTo>
                    <a:pt x="9442827" y="440876"/>
                  </a:lnTo>
                  <a:lnTo>
                    <a:pt x="9699235" y="223849"/>
                  </a:lnTo>
                  <a:lnTo>
                    <a:pt x="9699234" y="223849"/>
                  </a:lnTo>
                  <a:lnTo>
                    <a:pt x="9793026" y="256680"/>
                  </a:lnTo>
                  <a:lnTo>
                    <a:pt x="9793034" y="256685"/>
                  </a:lnTo>
                  <a:lnTo>
                    <a:pt x="9888955" y="289069"/>
                  </a:lnTo>
                  <a:lnTo>
                    <a:pt x="9888965" y="289057"/>
                  </a:lnTo>
                  <a:lnTo>
                    <a:pt x="9982971" y="321841"/>
                  </a:lnTo>
                  <a:lnTo>
                    <a:pt x="9982986" y="321840"/>
                  </a:lnTo>
                  <a:lnTo>
                    <a:pt x="10085998" y="357258"/>
                  </a:lnTo>
                  <a:lnTo>
                    <a:pt x="10085975" y="357258"/>
                  </a:lnTo>
                  <a:lnTo>
                    <a:pt x="10188302" y="392821"/>
                  </a:lnTo>
                  <a:lnTo>
                    <a:pt x="10188308" y="392833"/>
                  </a:lnTo>
                  <a:lnTo>
                    <a:pt x="10298554" y="426959"/>
                  </a:lnTo>
                  <a:lnTo>
                    <a:pt x="10298556" y="426960"/>
                  </a:lnTo>
                  <a:lnTo>
                    <a:pt x="10387895" y="456233"/>
                  </a:lnTo>
                  <a:lnTo>
                    <a:pt x="10387876" y="456221"/>
                  </a:lnTo>
                  <a:lnTo>
                    <a:pt x="10476046" y="485713"/>
                  </a:lnTo>
                  <a:lnTo>
                    <a:pt x="10476053" y="485714"/>
                  </a:lnTo>
                  <a:lnTo>
                    <a:pt x="10565557" y="514957"/>
                  </a:lnTo>
                </a:path>
              </a:pathLst>
            </a:custGeom>
            <a:noFill/>
            <a:ln w="22225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9" name="soc.midnight.line"/>
            <p:cNvCxnSpPr/>
            <p:nvPr/>
          </p:nvCxnSpPr>
          <p:spPr>
            <a:xfrm>
              <a:off x="7881891" y="3392424"/>
              <a:ext cx="0" cy="804672"/>
            </a:xfrm>
            <a:prstGeom prst="line">
              <a:avLst/>
            </a:prstGeom>
            <a:ln w="11430">
              <a:solidFill>
                <a:srgbClr val="BBBBBB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soc.midnight.txt"/>
            <p:cNvSpPr txBox="1"/>
            <p:nvPr/>
          </p:nvSpPr>
          <p:spPr>
            <a:xfrm>
              <a:off x="7945646" y="3492028"/>
              <a:ext cx="68580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999999"/>
                  </a:solidFill>
                  <a:latin typeface="Calibri"/>
                </a:rPr>
                <a:t>midnight</a:t>
              </a:r>
            </a:p>
          </p:txBody>
        </p:sp>
      </p:grpSp>
      <p:grpSp>
        <p:nvGrpSpPr>
          <p:cNvPr id="141" name="panel.hos"/>
          <p:cNvGrpSpPr/>
          <p:nvPr/>
        </p:nvGrpSpPr>
        <p:grpSpPr>
          <a:xfrm>
            <a:off x="91440" y="4370832"/>
            <a:ext cx="12115800" cy="960120"/>
            <a:chOff x="91440" y="4370832"/>
            <a:chExt cx="12115800" cy="960120"/>
          </a:xfrm>
        </p:grpSpPr>
        <p:sp>
          <p:nvSpPr>
            <p:cNvPr id="142" name="hos.label"/>
            <p:cNvSpPr txBox="1"/>
            <p:nvPr/>
          </p:nvSpPr>
          <p:spPr>
            <a:xfrm>
              <a:off x="91440" y="4553712"/>
              <a:ext cx="777240" cy="4114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HoS</a:t>
              </a:r>
            </a:p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[h]</a:t>
              </a:r>
            </a:p>
          </p:txBody>
        </p:sp>
        <p:sp>
          <p:nvSpPr>
            <p:cNvPr id="143" name="hos.frame"/>
            <p:cNvSpPr/>
            <p:nvPr/>
          </p:nvSpPr>
          <p:spPr>
            <a:xfrm>
              <a:off x="932688" y="4370832"/>
              <a:ext cx="10863072" cy="768096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4" name="hos.cap45.line"/>
            <p:cNvCxnSpPr/>
            <p:nvPr/>
          </p:nvCxnSpPr>
          <p:spPr>
            <a:xfrm>
              <a:off x="932688" y="4803352"/>
              <a:ext cx="10863072" cy="0"/>
            </a:xfrm>
            <a:prstGeom prst="line">
              <a:avLst/>
            </a:prstGeom>
            <a:ln w="12700">
              <a:solidFill>
                <a:srgbClr val="2B6CB0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hos.cap9.line"/>
            <p:cNvCxnSpPr/>
            <p:nvPr/>
          </p:nvCxnSpPr>
          <p:spPr>
            <a:xfrm>
              <a:off x="932688" y="4467776"/>
              <a:ext cx="10863072" cy="0"/>
            </a:xfrm>
            <a:prstGeom prst="line">
              <a:avLst/>
            </a:prstGeom>
            <a:ln w="12700">
              <a:solidFill>
                <a:srgbClr val="8A63B8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hos.cap45.txt"/>
            <p:cNvSpPr txBox="1"/>
            <p:nvPr/>
          </p:nvSpPr>
          <p:spPr>
            <a:xfrm>
              <a:off x="11823192" y="4721056"/>
              <a:ext cx="384048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2B6CB0"/>
                  </a:solidFill>
                  <a:latin typeface="Calibri"/>
                </a:rPr>
                <a:t>4.5 h</a:t>
              </a:r>
            </a:p>
          </p:txBody>
        </p:sp>
        <p:sp>
          <p:nvSpPr>
            <p:cNvPr id="147" name="hos.cap9.txt"/>
            <p:cNvSpPr txBox="1"/>
            <p:nvPr/>
          </p:nvSpPr>
          <p:spPr>
            <a:xfrm>
              <a:off x="11823192" y="4385480"/>
              <a:ext cx="384048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8A63B8"/>
                  </a:solidFill>
                  <a:latin typeface="Calibri"/>
                </a:rPr>
                <a:t>9 h</a:t>
              </a:r>
            </a:p>
          </p:txBody>
        </p:sp>
        <p:sp>
          <p:nvSpPr>
            <p:cNvPr id="148" name="hos.ytick.0"/>
            <p:cNvSpPr txBox="1"/>
            <p:nvPr/>
          </p:nvSpPr>
          <p:spPr>
            <a:xfrm>
              <a:off x="548640" y="5056632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0</a:t>
              </a:r>
            </a:p>
          </p:txBody>
        </p:sp>
        <p:sp>
          <p:nvSpPr>
            <p:cNvPr id="149" name="hos.ytick.4.5"/>
            <p:cNvSpPr txBox="1"/>
            <p:nvPr/>
          </p:nvSpPr>
          <p:spPr>
            <a:xfrm>
              <a:off x="548640" y="4721056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4.5</a:t>
              </a:r>
            </a:p>
          </p:txBody>
        </p:sp>
        <p:sp>
          <p:nvSpPr>
            <p:cNvPr id="150" name="hos.ytick.9"/>
            <p:cNvSpPr txBox="1"/>
            <p:nvPr/>
          </p:nvSpPr>
          <p:spPr>
            <a:xfrm>
              <a:off x="548640" y="4385480"/>
              <a:ext cx="3200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9</a:t>
              </a:r>
            </a:p>
          </p:txBody>
        </p:sp>
        <p:cxnSp>
          <p:nvCxnSpPr>
            <p:cNvPr id="151" name="hos.midnight.line"/>
            <p:cNvCxnSpPr/>
            <p:nvPr/>
          </p:nvCxnSpPr>
          <p:spPr>
            <a:xfrm>
              <a:off x="7881891" y="4379976"/>
              <a:ext cx="0" cy="749808"/>
            </a:xfrm>
            <a:prstGeom prst="line">
              <a:avLst/>
            </a:prstGeom>
            <a:ln w="11430">
              <a:solidFill>
                <a:srgbClr val="BBBBBB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hos.cd.curve"/>
            <p:cNvSpPr/>
            <p:nvPr/>
          </p:nvSpPr>
          <p:spPr>
            <a:xfrm>
              <a:off x="1081447" y="4941829"/>
              <a:ext cx="10565553" cy="197099"/>
            </a:xfrm>
            <a:custGeom>
              <a:avLst/>
              <a:gdLst/>
              <a:ahLst/>
              <a:cxnLst/>
              <a:rect l="l" t="t" r="r" b="b"/>
              <a:pathLst>
                <a:path w="10565553" h="197099">
                  <a:moveTo>
                    <a:pt x="0" y="197099"/>
                  </a:moveTo>
                  <a:lnTo>
                    <a:pt x="993333" y="22814"/>
                  </a:lnTo>
                  <a:lnTo>
                    <a:pt x="1259852" y="22814"/>
                  </a:lnTo>
                  <a:lnTo>
                    <a:pt x="1389883" y="0"/>
                  </a:lnTo>
                  <a:lnTo>
                    <a:pt x="1814902" y="0"/>
                  </a:lnTo>
                  <a:lnTo>
                    <a:pt x="1814902" y="0"/>
                  </a:lnTo>
                  <a:lnTo>
                    <a:pt x="1814902" y="197099"/>
                  </a:lnTo>
                  <a:lnTo>
                    <a:pt x="2862775" y="13246"/>
                  </a:lnTo>
                  <a:lnTo>
                    <a:pt x="7069016" y="13246"/>
                  </a:lnTo>
                  <a:lnTo>
                    <a:pt x="7069016" y="13246"/>
                  </a:lnTo>
                  <a:lnTo>
                    <a:pt x="7069016" y="197099"/>
                  </a:lnTo>
                  <a:lnTo>
                    <a:pt x="7871557" y="56290"/>
                  </a:lnTo>
                  <a:lnTo>
                    <a:pt x="8382499" y="56290"/>
                  </a:lnTo>
                  <a:lnTo>
                    <a:pt x="8382499" y="56290"/>
                  </a:lnTo>
                  <a:lnTo>
                    <a:pt x="8382499" y="197099"/>
                  </a:lnTo>
                  <a:lnTo>
                    <a:pt x="9298120" y="36450"/>
                  </a:lnTo>
                  <a:lnTo>
                    <a:pt x="9699230" y="36450"/>
                  </a:lnTo>
                  <a:lnTo>
                    <a:pt x="9699230" y="36450"/>
                  </a:lnTo>
                  <a:lnTo>
                    <a:pt x="9699230" y="197099"/>
                  </a:lnTo>
                  <a:lnTo>
                    <a:pt x="10565553" y="45099"/>
                  </a:lnTo>
                  <a:lnTo>
                    <a:pt x="10565553" y="45099"/>
                  </a:lnTo>
                </a:path>
              </a:pathLst>
            </a:custGeom>
            <a:noFill/>
            <a:ln w="22225">
              <a:solidFill>
                <a:srgbClr val="2B6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hos.sd.curve"/>
            <p:cNvSpPr/>
            <p:nvPr/>
          </p:nvSpPr>
          <p:spPr>
            <a:xfrm>
              <a:off x="1081447" y="4685472"/>
              <a:ext cx="10565553" cy="453456"/>
            </a:xfrm>
            <a:custGeom>
              <a:avLst/>
              <a:gdLst/>
              <a:ahLst/>
              <a:cxnLst/>
              <a:rect l="l" t="t" r="r" b="b"/>
              <a:pathLst>
                <a:path w="10565553" h="453456">
                  <a:moveTo>
                    <a:pt x="0" y="453456"/>
                  </a:moveTo>
                  <a:lnTo>
                    <a:pt x="993333" y="279171"/>
                  </a:lnTo>
                  <a:lnTo>
                    <a:pt x="1259852" y="279171"/>
                  </a:lnTo>
                  <a:lnTo>
                    <a:pt x="1389883" y="256357"/>
                  </a:lnTo>
                  <a:lnTo>
                    <a:pt x="1814902" y="256357"/>
                  </a:lnTo>
                  <a:lnTo>
                    <a:pt x="2862775" y="72505"/>
                  </a:lnTo>
                  <a:lnTo>
                    <a:pt x="7069016" y="72505"/>
                  </a:lnTo>
                  <a:lnTo>
                    <a:pt x="7069016" y="72505"/>
                  </a:lnTo>
                  <a:lnTo>
                    <a:pt x="7069016" y="453456"/>
                  </a:lnTo>
                  <a:lnTo>
                    <a:pt x="7871557" y="312647"/>
                  </a:lnTo>
                  <a:lnTo>
                    <a:pt x="8382499" y="312647"/>
                  </a:lnTo>
                  <a:lnTo>
                    <a:pt x="9298120" y="151999"/>
                  </a:lnTo>
                  <a:lnTo>
                    <a:pt x="9699230" y="151999"/>
                  </a:lnTo>
                  <a:lnTo>
                    <a:pt x="10565553" y="0"/>
                  </a:lnTo>
                  <a:lnTo>
                    <a:pt x="10565553" y="0"/>
                  </a:lnTo>
                </a:path>
              </a:pathLst>
            </a:custGeom>
            <a:noFill/>
            <a:ln w="19050">
              <a:solidFill>
                <a:srgbClr val="8A63B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hos.legend.bg"/>
            <p:cNvSpPr/>
            <p:nvPr/>
          </p:nvSpPr>
          <p:spPr>
            <a:xfrm>
              <a:off x="978408" y="4517136"/>
              <a:ext cx="3611880" cy="2011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5" name="hos.legend.cd.line"/>
            <p:cNvCxnSpPr/>
            <p:nvPr/>
          </p:nvCxnSpPr>
          <p:spPr>
            <a:xfrm>
              <a:off x="1042416" y="4617720"/>
              <a:ext cx="237744" cy="0"/>
            </a:xfrm>
            <a:prstGeom prst="line">
              <a:avLst/>
            </a:prstGeom>
            <a:ln w="22225">
              <a:solidFill>
                <a:srgbClr val="2B6CB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hos.legend.cd.txt"/>
            <p:cNvSpPr txBox="1"/>
            <p:nvPr/>
          </p:nvSpPr>
          <p:spPr>
            <a:xfrm>
              <a:off x="1335024" y="4535424"/>
              <a:ext cx="160020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222222"/>
                  </a:solidFill>
                  <a:latin typeface="Calibri"/>
                </a:rPr>
                <a:t>consecutive driving  t</a:t>
              </a:r>
              <a:r>
                <a:rPr sz="900" b="0" i="0" baseline="30000">
                  <a:solidFill>
                    <a:srgbClr val="222222"/>
                  </a:solidFill>
                  <a:latin typeface="Calibri"/>
                </a:rPr>
                <a:t>drv</a:t>
              </a:r>
            </a:p>
          </p:txBody>
        </p:sp>
        <p:cxnSp>
          <p:nvCxnSpPr>
            <p:cNvPr id="157" name="hos.legend.sd.line"/>
            <p:cNvCxnSpPr/>
            <p:nvPr/>
          </p:nvCxnSpPr>
          <p:spPr>
            <a:xfrm>
              <a:off x="3035808" y="4617720"/>
              <a:ext cx="237744" cy="0"/>
            </a:xfrm>
            <a:prstGeom prst="line">
              <a:avLst/>
            </a:prstGeom>
            <a:ln w="19050">
              <a:solidFill>
                <a:srgbClr val="8A63B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hos.legend.sd.txt"/>
            <p:cNvSpPr txBox="1"/>
            <p:nvPr/>
          </p:nvSpPr>
          <p:spPr>
            <a:xfrm>
              <a:off x="3328416" y="4535424"/>
              <a:ext cx="1234440" cy="16459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222222"/>
                  </a:solidFill>
                  <a:latin typeface="Calibri"/>
                </a:rPr>
                <a:t>shift driving  t</a:t>
              </a:r>
              <a:r>
                <a:rPr sz="900" b="0" i="0" baseline="30000">
                  <a:solidFill>
                    <a:srgbClr val="222222"/>
                  </a:solidFill>
                  <a:latin typeface="Calibri"/>
                </a:rPr>
                <a:t>sd</a:t>
              </a:r>
            </a:p>
          </p:txBody>
        </p:sp>
        <p:cxnSp>
          <p:nvCxnSpPr>
            <p:cNvPr id="159" name="hos.xtick.8"/>
            <p:cNvCxnSpPr/>
            <p:nvPr/>
          </p:nvCxnSpPr>
          <p:spPr>
            <a:xfrm>
              <a:off x="1081447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hos.xticklabel.8"/>
            <p:cNvSpPr txBox="1"/>
            <p:nvPr/>
          </p:nvSpPr>
          <p:spPr>
            <a:xfrm>
              <a:off x="807127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08:00</a:t>
              </a:r>
            </a:p>
          </p:txBody>
        </p:sp>
        <p:cxnSp>
          <p:nvCxnSpPr>
            <p:cNvPr id="161" name="hos.xtick.10"/>
            <p:cNvCxnSpPr/>
            <p:nvPr/>
          </p:nvCxnSpPr>
          <p:spPr>
            <a:xfrm>
              <a:off x="193150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hos.xticklabel.10"/>
            <p:cNvSpPr txBox="1"/>
            <p:nvPr/>
          </p:nvSpPr>
          <p:spPr>
            <a:xfrm>
              <a:off x="1657183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10:00</a:t>
              </a:r>
            </a:p>
          </p:txBody>
        </p:sp>
        <p:cxnSp>
          <p:nvCxnSpPr>
            <p:cNvPr id="163" name="hos.xtick.12"/>
            <p:cNvCxnSpPr/>
            <p:nvPr/>
          </p:nvCxnSpPr>
          <p:spPr>
            <a:xfrm>
              <a:off x="278155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hos.xticklabel.12"/>
            <p:cNvSpPr txBox="1"/>
            <p:nvPr/>
          </p:nvSpPr>
          <p:spPr>
            <a:xfrm>
              <a:off x="2507238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12:00</a:t>
              </a:r>
            </a:p>
          </p:txBody>
        </p:sp>
        <p:cxnSp>
          <p:nvCxnSpPr>
            <p:cNvPr id="165" name="hos.xtick.14"/>
            <p:cNvCxnSpPr/>
            <p:nvPr/>
          </p:nvCxnSpPr>
          <p:spPr>
            <a:xfrm>
              <a:off x="3631614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hos.xticklabel.14"/>
            <p:cNvSpPr txBox="1"/>
            <p:nvPr/>
          </p:nvSpPr>
          <p:spPr>
            <a:xfrm>
              <a:off x="3357294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14:00</a:t>
              </a:r>
            </a:p>
          </p:txBody>
        </p:sp>
        <p:cxnSp>
          <p:nvCxnSpPr>
            <p:cNvPr id="167" name="hos.xtick.16"/>
            <p:cNvCxnSpPr/>
            <p:nvPr/>
          </p:nvCxnSpPr>
          <p:spPr>
            <a:xfrm>
              <a:off x="448166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hos.xticklabel.16"/>
            <p:cNvSpPr txBox="1"/>
            <p:nvPr/>
          </p:nvSpPr>
          <p:spPr>
            <a:xfrm>
              <a:off x="4207349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16:00</a:t>
              </a:r>
            </a:p>
          </p:txBody>
        </p:sp>
        <p:cxnSp>
          <p:nvCxnSpPr>
            <p:cNvPr id="169" name="hos.xtick.18"/>
            <p:cNvCxnSpPr/>
            <p:nvPr/>
          </p:nvCxnSpPr>
          <p:spPr>
            <a:xfrm>
              <a:off x="533172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hos.xticklabel.18"/>
            <p:cNvSpPr txBox="1"/>
            <p:nvPr/>
          </p:nvSpPr>
          <p:spPr>
            <a:xfrm>
              <a:off x="5057405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18:00</a:t>
              </a:r>
            </a:p>
          </p:txBody>
        </p:sp>
        <p:cxnSp>
          <p:nvCxnSpPr>
            <p:cNvPr id="171" name="hos.xtick.20"/>
            <p:cNvCxnSpPr/>
            <p:nvPr/>
          </p:nvCxnSpPr>
          <p:spPr>
            <a:xfrm>
              <a:off x="6181780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hos.xticklabel.20"/>
            <p:cNvSpPr txBox="1"/>
            <p:nvPr/>
          </p:nvSpPr>
          <p:spPr>
            <a:xfrm>
              <a:off x="5907460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20:00</a:t>
              </a:r>
            </a:p>
          </p:txBody>
        </p:sp>
        <p:cxnSp>
          <p:nvCxnSpPr>
            <p:cNvPr id="173" name="hos.xtick.22"/>
            <p:cNvCxnSpPr/>
            <p:nvPr/>
          </p:nvCxnSpPr>
          <p:spPr>
            <a:xfrm>
              <a:off x="7031836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hos.xticklabel.22"/>
            <p:cNvSpPr txBox="1"/>
            <p:nvPr/>
          </p:nvSpPr>
          <p:spPr>
            <a:xfrm>
              <a:off x="6757516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22:00</a:t>
              </a:r>
            </a:p>
          </p:txBody>
        </p:sp>
        <p:cxnSp>
          <p:nvCxnSpPr>
            <p:cNvPr id="175" name="hos.xtick.24"/>
            <p:cNvCxnSpPr/>
            <p:nvPr/>
          </p:nvCxnSpPr>
          <p:spPr>
            <a:xfrm>
              <a:off x="7881891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hos.xticklabel.24"/>
            <p:cNvSpPr txBox="1"/>
            <p:nvPr/>
          </p:nvSpPr>
          <p:spPr>
            <a:xfrm>
              <a:off x="7607571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00:00</a:t>
              </a:r>
            </a:p>
          </p:txBody>
        </p:sp>
        <p:cxnSp>
          <p:nvCxnSpPr>
            <p:cNvPr id="177" name="hos.xtick.26"/>
            <p:cNvCxnSpPr/>
            <p:nvPr/>
          </p:nvCxnSpPr>
          <p:spPr>
            <a:xfrm>
              <a:off x="8731947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hos.xticklabel.26"/>
            <p:cNvSpPr txBox="1"/>
            <p:nvPr/>
          </p:nvSpPr>
          <p:spPr>
            <a:xfrm>
              <a:off x="8457627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02:00</a:t>
              </a:r>
            </a:p>
          </p:txBody>
        </p:sp>
        <p:cxnSp>
          <p:nvCxnSpPr>
            <p:cNvPr id="179" name="hos.xtick.28"/>
            <p:cNvCxnSpPr/>
            <p:nvPr/>
          </p:nvCxnSpPr>
          <p:spPr>
            <a:xfrm>
              <a:off x="9582002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hos.xticklabel.28"/>
            <p:cNvSpPr txBox="1"/>
            <p:nvPr/>
          </p:nvSpPr>
          <p:spPr>
            <a:xfrm>
              <a:off x="9307682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04:00</a:t>
              </a:r>
            </a:p>
          </p:txBody>
        </p:sp>
        <p:cxnSp>
          <p:nvCxnSpPr>
            <p:cNvPr id="181" name="hos.xtick.30"/>
            <p:cNvCxnSpPr/>
            <p:nvPr/>
          </p:nvCxnSpPr>
          <p:spPr>
            <a:xfrm>
              <a:off x="1043205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hos.xticklabel.30"/>
            <p:cNvSpPr txBox="1"/>
            <p:nvPr/>
          </p:nvSpPr>
          <p:spPr>
            <a:xfrm>
              <a:off x="10157738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06:00</a:t>
              </a:r>
            </a:p>
          </p:txBody>
        </p:sp>
        <p:cxnSp>
          <p:nvCxnSpPr>
            <p:cNvPr id="183" name="hos.xtick.32"/>
            <p:cNvCxnSpPr/>
            <p:nvPr/>
          </p:nvCxnSpPr>
          <p:spPr>
            <a:xfrm>
              <a:off x="1128211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hos.xticklabel.32"/>
            <p:cNvSpPr txBox="1"/>
            <p:nvPr/>
          </p:nvSpPr>
          <p:spPr>
            <a:xfrm>
              <a:off x="11007793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08:00</a:t>
              </a:r>
            </a:p>
          </p:txBody>
        </p:sp>
      </p:grpSp>
      <p:grpSp>
        <p:nvGrpSpPr>
          <p:cNvPr id="185" name="panel.driver"/>
          <p:cNvGrpSpPr/>
          <p:nvPr/>
        </p:nvGrpSpPr>
        <p:grpSpPr>
          <a:xfrm>
            <a:off x="91440" y="5440680"/>
            <a:ext cx="11704320" cy="1252931"/>
            <a:chOff x="91440" y="5440680"/>
            <a:chExt cx="11704320" cy="1252931"/>
          </a:xfrm>
        </p:grpSpPr>
        <p:sp>
          <p:nvSpPr>
            <p:cNvPr id="186" name="driver.label"/>
            <p:cNvSpPr txBox="1"/>
            <p:nvPr/>
          </p:nvSpPr>
          <p:spPr>
            <a:xfrm>
              <a:off x="91440" y="5550408"/>
              <a:ext cx="777240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Driver</a:t>
              </a:r>
            </a:p>
          </p:txBody>
        </p:sp>
        <p:sp>
          <p:nvSpPr>
            <p:cNvPr id="187" name="driver.frame"/>
            <p:cNvSpPr/>
            <p:nvPr/>
          </p:nvSpPr>
          <p:spPr>
            <a:xfrm>
              <a:off x="932688" y="5440680"/>
              <a:ext cx="10863072" cy="438912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driver.drive@8.0"/>
            <p:cNvSpPr/>
            <p:nvPr/>
          </p:nvSpPr>
          <p:spPr>
            <a:xfrm>
              <a:off x="1081443" y="5471769"/>
              <a:ext cx="99333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89" name="driver.drive@11.0"/>
            <p:cNvSpPr/>
            <p:nvPr/>
          </p:nvSpPr>
          <p:spPr>
            <a:xfrm>
              <a:off x="2341299" y="5471769"/>
              <a:ext cx="13003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driver.drive@12.3"/>
            <p:cNvSpPr/>
            <p:nvPr/>
          </p:nvSpPr>
          <p:spPr>
            <a:xfrm>
              <a:off x="2896349" y="5471769"/>
              <a:ext cx="1047872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91" name="driver.drive@24.6"/>
            <p:cNvSpPr/>
            <p:nvPr/>
          </p:nvSpPr>
          <p:spPr>
            <a:xfrm>
              <a:off x="8150463" y="5471769"/>
              <a:ext cx="80254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92" name="driver.drive@27.7"/>
            <p:cNvSpPr/>
            <p:nvPr/>
          </p:nvSpPr>
          <p:spPr>
            <a:xfrm>
              <a:off x="9463946" y="5471769"/>
              <a:ext cx="91562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93" name="driver.drive@30.8"/>
            <p:cNvSpPr/>
            <p:nvPr/>
          </p:nvSpPr>
          <p:spPr>
            <a:xfrm>
              <a:off x="10780677" y="5471769"/>
              <a:ext cx="86632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94" name="driver.work@10.3"/>
            <p:cNvSpPr/>
            <p:nvPr/>
          </p:nvSpPr>
          <p:spPr>
            <a:xfrm>
              <a:off x="2074780" y="5471769"/>
              <a:ext cx="107467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driver.break@10.6"/>
            <p:cNvSpPr/>
            <p:nvPr/>
          </p:nvSpPr>
          <p:spPr>
            <a:xfrm>
              <a:off x="2182247" y="5471769"/>
              <a:ext cx="159052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driver.service@11.3"/>
            <p:cNvSpPr/>
            <p:nvPr/>
          </p:nvSpPr>
          <p:spPr>
            <a:xfrm>
              <a:off x="2471330" y="5471769"/>
              <a:ext cx="212513" cy="376732"/>
            </a:xfrm>
            <a:prstGeom prst="rect">
              <a:avLst/>
            </a:prstGeom>
            <a:solidFill>
              <a:srgbClr val="E8822D"/>
            </a:solidFill>
            <a:ln w="6350">
              <a:solidFill>
                <a:srgbClr val="A85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driver.break@11.8"/>
            <p:cNvSpPr/>
            <p:nvPr/>
          </p:nvSpPr>
          <p:spPr>
            <a:xfrm>
              <a:off x="2683844" y="5471769"/>
              <a:ext cx="212504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driver.work@14.7"/>
            <p:cNvSpPr/>
            <p:nvPr/>
          </p:nvSpPr>
          <p:spPr>
            <a:xfrm>
              <a:off x="3944222" y="5471769"/>
              <a:ext cx="381001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driver.rest@15.6"/>
            <p:cNvSpPr/>
            <p:nvPr/>
          </p:nvSpPr>
          <p:spPr>
            <a:xfrm>
              <a:off x="4325223" y="5471769"/>
              <a:ext cx="3825249" cy="376732"/>
            </a:xfrm>
            <a:prstGeom prst="rect">
              <a:avLst/>
            </a:prstGeom>
            <a:pattFill prst="wdDnDiag">
              <a:fgClr>
                <a:srgbClr val="1F4E79"/>
              </a:fgClr>
              <a:bgClr>
                <a:srgbClr val="E4EDF7"/>
              </a:bgClr>
            </a:pattFill>
            <a:ln w="952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driver.work@26.5"/>
            <p:cNvSpPr/>
            <p:nvPr/>
          </p:nvSpPr>
          <p:spPr>
            <a:xfrm>
              <a:off x="8953004" y="5471769"/>
              <a:ext cx="192163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driver.break@27.0"/>
            <p:cNvSpPr/>
            <p:nvPr/>
          </p:nvSpPr>
          <p:spPr>
            <a:xfrm>
              <a:off x="9145167" y="5471769"/>
              <a:ext cx="318778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driver.work@29.9"/>
            <p:cNvSpPr/>
            <p:nvPr/>
          </p:nvSpPr>
          <p:spPr>
            <a:xfrm>
              <a:off x="10379567" y="5471769"/>
              <a:ext cx="82345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driver.break@30.1"/>
            <p:cNvSpPr/>
            <p:nvPr/>
          </p:nvSpPr>
          <p:spPr>
            <a:xfrm>
              <a:off x="10461913" y="5471769"/>
              <a:ext cx="318765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driver.rotlabel.Working time@10.5"/>
            <p:cNvSpPr txBox="1"/>
            <p:nvPr/>
          </p:nvSpPr>
          <p:spPr>
            <a:xfrm rot="19320000">
              <a:off x="561111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05" name="driver.rotlabel.1st split br@10.8"/>
            <p:cNvSpPr txBox="1"/>
            <p:nvPr/>
          </p:nvSpPr>
          <p:spPr>
            <a:xfrm rot="19320000">
              <a:off x="694371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1st split break (15′)</a:t>
              </a:r>
            </a:p>
          </p:txBody>
        </p:sp>
        <p:sp>
          <p:nvSpPr>
            <p:cNvPr id="206" name="driver.rotlabel.Service@11.5"/>
            <p:cNvSpPr txBox="1"/>
            <p:nvPr/>
          </p:nvSpPr>
          <p:spPr>
            <a:xfrm rot="19320000">
              <a:off x="1010186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Service</a:t>
              </a:r>
            </a:p>
          </p:txBody>
        </p:sp>
        <p:sp>
          <p:nvSpPr>
            <p:cNvPr id="207" name="driver.rotlabel.2nd split br@12.0"/>
            <p:cNvSpPr txBox="1"/>
            <p:nvPr/>
          </p:nvSpPr>
          <p:spPr>
            <a:xfrm rot="19320000">
              <a:off x="1222695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2nd split break (30′)</a:t>
              </a:r>
            </a:p>
          </p:txBody>
        </p:sp>
        <p:sp>
          <p:nvSpPr>
            <p:cNvPr id="208" name="driver.rotlabel.Working time@15.2"/>
            <p:cNvSpPr txBox="1"/>
            <p:nvPr/>
          </p:nvSpPr>
          <p:spPr>
            <a:xfrm rot="19320000">
              <a:off x="2567321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09" name="driver.rotlabel.9 h rest (re@20.1"/>
            <p:cNvSpPr txBox="1"/>
            <p:nvPr/>
          </p:nvSpPr>
          <p:spPr>
            <a:xfrm rot="19320000">
              <a:off x="4670446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9 h rest (reduced)</a:t>
              </a:r>
            </a:p>
          </p:txBody>
        </p:sp>
        <p:sp>
          <p:nvSpPr>
            <p:cNvPr id="210" name="driver.rotlabel.Working time@26.7"/>
            <p:cNvSpPr txBox="1"/>
            <p:nvPr/>
          </p:nvSpPr>
          <p:spPr>
            <a:xfrm rot="19320000">
              <a:off x="7481684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11" name="driver.rotlabel.45′ break@27.3"/>
            <p:cNvSpPr txBox="1"/>
            <p:nvPr/>
          </p:nvSpPr>
          <p:spPr>
            <a:xfrm rot="19320000">
              <a:off x="7737155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45′ break</a:t>
              </a:r>
            </a:p>
          </p:txBody>
        </p:sp>
        <p:sp>
          <p:nvSpPr>
            <p:cNvPr id="212" name="driver.rotlabel.Working time@30.0"/>
            <p:cNvSpPr txBox="1"/>
            <p:nvPr/>
          </p:nvSpPr>
          <p:spPr>
            <a:xfrm rot="19320000">
              <a:off x="8853338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13" name="driver.rotlabel.45′ break@30.4"/>
            <p:cNvSpPr txBox="1"/>
            <p:nvPr/>
          </p:nvSpPr>
          <p:spPr>
            <a:xfrm rot="19320000">
              <a:off x="9053894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45′ break</a:t>
              </a:r>
            </a:p>
          </p:txBody>
        </p:sp>
      </p:grpSp>
      <p:sp>
        <p:nvSpPr>
          <p:cNvPr id="214" name="caption"/>
          <p:cNvSpPr txBox="1"/>
          <p:nvPr/>
        </p:nvSpPr>
        <p:spPr>
          <a:xfrm>
            <a:off x="4023360" y="6601968"/>
            <a:ext cx="7818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Calibri"/>
              </a:rPr>
              <a:t>run RshortCfewTmedium_19_RO_20260716_092310_060   •   break rules: 45′ after ≤ 4.5 h driving, splittable 15′+30′; daily rest 11 h (9 h reduced)   •   charge counts as break when concurrent (g</a:t>
            </a:r>
            <a:r>
              <a:rPr sz="750" b="0" i="0" baseline="-25000">
                <a:solidFill>
                  <a:srgbClr val="888888"/>
                </a:solidFill>
                <a:latin typeface="Calibri"/>
              </a:rPr>
              <a:t>i</a:t>
            </a:r>
            <a:r>
              <a:rPr sz="750" b="0" i="0">
                <a:solidFill>
                  <a:srgbClr val="888888"/>
                </a:solidFill>
                <a:latin typeface="Calibri"/>
              </a:rPr>
              <a:t>), as work when followed by rest (σ</a:t>
            </a:r>
            <a:r>
              <a:rPr sz="750" b="0" i="0" baseline="-25000">
                <a:solidFill>
                  <a:srgbClr val="888888"/>
                </a:solidFill>
                <a:latin typeface="Calibri"/>
              </a:rPr>
              <a:t>i</a:t>
            </a:r>
            <a:r>
              <a:rPr sz="750" b="0" i="0">
                <a:solidFill>
                  <a:srgbClr val="888888"/>
                </a:solidFill>
                <a:latin typeface="Calibri"/>
              </a:rPr>
              <a:t> =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