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50" d="100"/>
          <a:sy n="150" d="100"/>
        </p:scale>
        <p:origin x="57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B.frame"/>
          <p:cNvSpPr/>
          <p:nvPr/>
        </p:nvSpPr>
        <p:spPr>
          <a:xfrm>
            <a:off x="3424428" y="914400"/>
            <a:ext cx="5513832" cy="2926080"/>
          </a:xfrm>
          <a:prstGeom prst="roundRect">
            <a:avLst/>
          </a:prstGeom>
          <a:solidFill>
            <a:srgbClr val="FAFAFA"/>
          </a:solidFill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zoneB.pill.box"/>
          <p:cNvSpPr/>
          <p:nvPr/>
        </p:nvSpPr>
        <p:spPr>
          <a:xfrm>
            <a:off x="3941318" y="718949"/>
            <a:ext cx="2331720" cy="310896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1600" b="1">
                <a:solidFill>
                  <a:srgbClr val="FFFFFF"/>
                </a:solidFill>
              </a:rPr>
              <a:t>Discrete event simulator</a:t>
            </a:r>
            <a:endParaRPr lang="nb-NO" sz="1600" b="1" dirty="0">
              <a:solidFill>
                <a:srgbClr val="FFFFFF"/>
              </a:solidFill>
            </a:endParaRPr>
          </a:p>
        </p:txBody>
      </p:sp>
      <p:sp>
        <p:nvSpPr>
          <p:cNvPr id="14" name="zoneB.sub"/>
          <p:cNvSpPr txBox="1"/>
          <p:nvPr/>
        </p:nvSpPr>
        <p:spPr>
          <a:xfrm>
            <a:off x="3990686" y="1047365"/>
            <a:ext cx="2232984" cy="1384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0" i="1" dirty="0">
                <a:solidFill>
                  <a:schemeClr val="bg1">
                    <a:lumMod val="50000"/>
                  </a:schemeClr>
                </a:solidFill>
                <a:latin typeface="Calibri"/>
              </a:rPr>
              <a:t>closed-loop  -  re-decides from the realized state</a:t>
            </a:r>
          </a:p>
        </p:txBody>
      </p: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914A54BD-1B50-A41B-F5AC-5130722EAA0C}"/>
              </a:ext>
            </a:extLst>
          </p:cNvPr>
          <p:cNvGrpSpPr/>
          <p:nvPr/>
        </p:nvGrpSpPr>
        <p:grpSpPr>
          <a:xfrm>
            <a:off x="4086191" y="1606313"/>
            <a:ext cx="1540798" cy="896112"/>
            <a:chOff x="3832207" y="2265218"/>
            <a:chExt cx="1540798" cy="896112"/>
          </a:xfrm>
        </p:grpSpPr>
        <p:sp>
          <p:nvSpPr>
            <p:cNvPr id="28" name="loop.state.box"/>
            <p:cNvSpPr/>
            <p:nvPr/>
          </p:nvSpPr>
          <p:spPr>
            <a:xfrm>
              <a:off x="3832207" y="2265218"/>
              <a:ext cx="1540798" cy="896112"/>
            </a:xfrm>
            <a:prstGeom prst="roundRect">
              <a:avLst/>
            </a:prstGeom>
            <a:solidFill>
              <a:srgbClr val="E9F1F9"/>
            </a:solidFill>
            <a:ln w="15875">
              <a:solidFill>
                <a:srgbClr val="2B6CB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 dirty="0">
                <a:solidFill>
                  <a:schemeClr val="bg1">
                    <a:lumMod val="50000"/>
                  </a:schemeClr>
                </a:solidFill>
              </a:endParaRPr>
            </a:p>
            <a:p>
              <a:pPr algn="ctr"/>
              <a:endParaRPr lang="en-US" sz="1000" dirty="0">
                <a:solidFill>
                  <a:schemeClr val="bg1">
                    <a:lumMod val="50000"/>
                  </a:schemeClr>
                </a:solidFill>
              </a:endParaRPr>
            </a:p>
            <a:p>
              <a:pPr algn="ctr"/>
              <a:r>
                <a:rPr lang="en-US" sz="1000" dirty="0">
                  <a:solidFill>
                    <a:schemeClr val="bg1">
                      <a:lumMod val="50000"/>
                    </a:schemeClr>
                  </a:solidFill>
                </a:rPr>
                <a:t>Next stop status (CS, customer, etc.), </a:t>
              </a:r>
            </a:p>
            <a:p>
              <a:pPr algn="ctr"/>
              <a:r>
                <a:rPr lang="en-US" sz="1000" dirty="0" err="1">
                  <a:solidFill>
                    <a:schemeClr val="bg1">
                      <a:lumMod val="50000"/>
                    </a:schemeClr>
                  </a:solidFill>
                </a:rPr>
                <a:t>HoS</a:t>
              </a:r>
              <a:r>
                <a:rPr lang="en-US" sz="1000" dirty="0">
                  <a:solidFill>
                    <a:schemeClr val="bg1">
                      <a:lumMod val="50000"/>
                    </a:schemeClr>
                  </a:solidFill>
                </a:rPr>
                <a:t>, SOC, rest of route</a:t>
              </a:r>
            </a:p>
          </p:txBody>
        </p:sp>
        <p:sp>
          <p:nvSpPr>
            <p:cNvPr id="29" name="loop.state.title"/>
            <p:cNvSpPr txBox="1"/>
            <p:nvPr/>
          </p:nvSpPr>
          <p:spPr>
            <a:xfrm>
              <a:off x="3904823" y="2283247"/>
              <a:ext cx="1370089" cy="32316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1050" b="1" i="0" dirty="0">
                  <a:solidFill>
                    <a:srgbClr val="2B6CB0"/>
                  </a:solidFill>
                  <a:latin typeface="Calibri"/>
                </a:rPr>
                <a:t>State at </a:t>
              </a:r>
              <a:r>
                <a:rPr lang="nb-NO" sz="1050" b="1" i="0" dirty="0" err="1">
                  <a:solidFill>
                    <a:srgbClr val="2B6CB0"/>
                  </a:solidFill>
                  <a:latin typeface="Calibri"/>
                </a:rPr>
                <a:t>next</a:t>
              </a:r>
              <a:r>
                <a:rPr lang="nb-NO" sz="1050" b="1" i="0" dirty="0">
                  <a:solidFill>
                    <a:srgbClr val="2B6CB0"/>
                  </a:solidFill>
                  <a:latin typeface="Calibri"/>
                </a:rPr>
                <a:t> </a:t>
              </a:r>
            </a:p>
            <a:p>
              <a:pPr algn="ctr"/>
              <a:r>
                <a:rPr lang="nb-NO" sz="1050" b="1" i="0" dirty="0" err="1">
                  <a:solidFill>
                    <a:srgbClr val="2B6CB0"/>
                  </a:solidFill>
                  <a:latin typeface="Calibri"/>
                </a:rPr>
                <a:t>decision</a:t>
              </a:r>
              <a:r>
                <a:rPr lang="nb-NO" sz="1050" b="1" i="0" dirty="0">
                  <a:solidFill>
                    <a:srgbClr val="2B6CB0"/>
                  </a:solidFill>
                  <a:latin typeface="Calibri"/>
                </a:rPr>
                <a:t> </a:t>
              </a:r>
              <a:r>
                <a:rPr lang="nb-NO" sz="1050" b="1" i="0" dirty="0" err="1">
                  <a:solidFill>
                    <a:srgbClr val="2B6CB0"/>
                  </a:solidFill>
                  <a:latin typeface="Calibri"/>
                </a:rPr>
                <a:t>point</a:t>
              </a:r>
              <a:endParaRPr sz="1050" b="1" i="0" dirty="0">
                <a:solidFill>
                  <a:srgbClr val="2B6CB0"/>
                </a:solidFill>
                <a:latin typeface="Calibri"/>
              </a:endParaRPr>
            </a:p>
          </p:txBody>
        </p:sp>
      </p:grpSp>
      <p:cxnSp>
        <p:nvCxnSpPr>
          <p:cNvPr id="58" name="loop.arr.state"/>
          <p:cNvCxnSpPr>
            <a:cxnSpLocks/>
            <a:stCxn id="29" idx="0"/>
          </p:cNvCxnSpPr>
          <p:nvPr/>
        </p:nvCxnSpPr>
        <p:spPr>
          <a:xfrm rot="5400000" flipH="1" flipV="1">
            <a:off x="5937415" y="272975"/>
            <a:ext cx="257804" cy="2444930"/>
          </a:xfrm>
          <a:prstGeom prst="curvedConnector2">
            <a:avLst/>
          </a:prstGeom>
          <a:ln w="19050">
            <a:solidFill>
              <a:schemeClr val="tx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loop.arr.act"/>
          <p:cNvCxnSpPr>
            <a:cxnSpLocks/>
            <a:stCxn id="35" idx="2"/>
            <a:endCxn id="28" idx="2"/>
          </p:cNvCxnSpPr>
          <p:nvPr/>
        </p:nvCxnSpPr>
        <p:spPr>
          <a:xfrm rot="5400000" flipH="1">
            <a:off x="5771364" y="1587651"/>
            <a:ext cx="1120551" cy="2950100"/>
          </a:xfrm>
          <a:prstGeom prst="curvedConnector3">
            <a:avLst>
              <a:gd name="adj1" fmla="val -8501"/>
            </a:avLst>
          </a:prstGeom>
          <a:ln w="19050">
            <a:solidFill>
              <a:schemeClr val="tx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5" name="Group 204">
            <a:extLst>
              <a:ext uri="{FF2B5EF4-FFF2-40B4-BE49-F238E27FC236}">
                <a16:creationId xmlns:a16="http://schemas.microsoft.com/office/drawing/2014/main" id="{B98761EB-B881-C502-919C-0396BE1873AC}"/>
              </a:ext>
            </a:extLst>
          </p:cNvPr>
          <p:cNvGrpSpPr/>
          <p:nvPr/>
        </p:nvGrpSpPr>
        <p:grpSpPr>
          <a:xfrm>
            <a:off x="9427691" y="2335091"/>
            <a:ext cx="1450340" cy="1342995"/>
            <a:chOff x="9738360" y="3470305"/>
            <a:chExt cx="1450340" cy="1342995"/>
          </a:xfrm>
        </p:grpSpPr>
        <p:sp>
          <p:nvSpPr>
            <p:cNvPr id="6" name="zoneC.frame"/>
            <p:cNvSpPr/>
            <p:nvPr/>
          </p:nvSpPr>
          <p:spPr>
            <a:xfrm>
              <a:off x="9738360" y="3470305"/>
              <a:ext cx="1450340" cy="1342995"/>
            </a:xfrm>
            <a:prstGeom prst="roundRect">
              <a:avLst/>
            </a:prstGeom>
            <a:solidFill>
              <a:srgbClr val="F1ECF8"/>
            </a:solidFill>
            <a:ln w="12700">
              <a:solidFill>
                <a:srgbClr val="6A4C93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zoneC.pill.box"/>
            <p:cNvSpPr/>
            <p:nvPr/>
          </p:nvSpPr>
          <p:spPr>
            <a:xfrm>
              <a:off x="9738360" y="3470305"/>
              <a:ext cx="1450340" cy="310896"/>
            </a:xfrm>
            <a:prstGeom prst="roundRect">
              <a:avLst/>
            </a:prstGeom>
            <a:solidFill>
              <a:srgbClr val="6A4C93"/>
            </a:solidFill>
            <a:ln w="12700">
              <a:solidFill>
                <a:srgbClr val="6A4C9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rgbClr val="FFFFFF"/>
                  </a:solidFill>
                </a:rPr>
                <a:t>AFTER THE FACT</a:t>
              </a:r>
            </a:p>
          </p:txBody>
        </p:sp>
        <p:sp>
          <p:nvSpPr>
            <p:cNvPr id="65" name="zoneC.oracle.box"/>
            <p:cNvSpPr/>
            <p:nvPr/>
          </p:nvSpPr>
          <p:spPr>
            <a:xfrm>
              <a:off x="9793224" y="3881626"/>
              <a:ext cx="1319276" cy="814121"/>
            </a:xfrm>
            <a:prstGeom prst="roundRect">
              <a:avLst/>
            </a:prstGeom>
            <a:solidFill>
              <a:srgbClr val="FFFFFF"/>
            </a:solidFill>
            <a:ln w="15875">
              <a:solidFill>
                <a:srgbClr val="6A4C93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66" name="zoneC.oracle.title"/>
            <p:cNvSpPr txBox="1"/>
            <p:nvPr/>
          </p:nvSpPr>
          <p:spPr>
            <a:xfrm>
              <a:off x="9738360" y="3950208"/>
              <a:ext cx="1450340" cy="18466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1200" b="1" i="0" dirty="0">
                  <a:solidFill>
                    <a:srgbClr val="6A4C93"/>
                  </a:solidFill>
                  <a:latin typeface="Calibri"/>
                </a:rPr>
                <a:t>ORACLE</a:t>
              </a:r>
            </a:p>
          </p:txBody>
        </p:sp>
        <p:sp>
          <p:nvSpPr>
            <p:cNvPr id="67" name="zoneC.oracle.body"/>
            <p:cNvSpPr txBox="1"/>
            <p:nvPr/>
          </p:nvSpPr>
          <p:spPr>
            <a:xfrm>
              <a:off x="9832086" y="4202174"/>
              <a:ext cx="1247136" cy="420628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lang="en-US" sz="800" b="0" i="0" dirty="0">
                  <a:solidFill>
                    <a:srgbClr val="5F5F5F"/>
                  </a:solidFill>
                  <a:latin typeface="Calibri"/>
                </a:rPr>
                <a:t>the full-route</a:t>
              </a:r>
            </a:p>
            <a:p>
              <a:pPr algn="ctr">
                <a:spcBef>
                  <a:spcPts val="150"/>
                </a:spcBef>
              </a:pPr>
              <a:r>
                <a:rPr lang="en-US" sz="800" b="0" i="0" dirty="0">
                  <a:solidFill>
                    <a:srgbClr val="5F5F5F"/>
                  </a:solidFill>
                  <a:latin typeface="Calibri"/>
                </a:rPr>
                <a:t>problem re-solved once every</a:t>
              </a:r>
            </a:p>
            <a:p>
              <a:pPr algn="ctr">
                <a:spcBef>
                  <a:spcPts val="150"/>
                </a:spcBef>
              </a:pPr>
              <a:r>
                <a:rPr lang="en-US" sz="800" b="0" i="0" dirty="0">
                  <a:solidFill>
                    <a:srgbClr val="5F5F5F"/>
                  </a:solidFill>
                  <a:latin typeface="Calibri"/>
                </a:rPr>
                <a:t>travel time is known</a:t>
              </a:r>
            </a:p>
          </p:txBody>
        </p:sp>
      </p:grpSp>
      <p:cxnSp>
        <p:nvCxnSpPr>
          <p:cNvPr id="69" name="zoneC.gap.arrow"/>
          <p:cNvCxnSpPr/>
          <p:nvPr/>
        </p:nvCxnSpPr>
        <p:spPr>
          <a:xfrm>
            <a:off x="8915400" y="4187952"/>
            <a:ext cx="731520" cy="0"/>
          </a:xfrm>
          <a:prstGeom prst="line">
            <a:avLst/>
          </a:prstGeom>
          <a:ln w="19050">
            <a:solidFill>
              <a:srgbClr val="6A4C93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zoneC.gap.label"/>
          <p:cNvSpPr txBox="1"/>
          <p:nvPr/>
        </p:nvSpPr>
        <p:spPr>
          <a:xfrm>
            <a:off x="8860536" y="3913632"/>
            <a:ext cx="841247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50" b="1" i="0">
                <a:solidFill>
                  <a:srgbClr val="6A4C93"/>
                </a:solidFill>
                <a:latin typeface="Calibri"/>
              </a:rPr>
              <a:t>gap Δ</a:t>
            </a:r>
          </a:p>
        </p:txBody>
      </p: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42AC8F49-9F75-2D69-3690-DF9293FF2DE1}"/>
              </a:ext>
            </a:extLst>
          </p:cNvPr>
          <p:cNvGrpSpPr/>
          <p:nvPr/>
        </p:nvGrpSpPr>
        <p:grpSpPr>
          <a:xfrm>
            <a:off x="827694" y="1051561"/>
            <a:ext cx="2642615" cy="1682495"/>
            <a:chOff x="-251460" y="758952"/>
            <a:chExt cx="2642615" cy="1682495"/>
          </a:xfrm>
        </p:grpSpPr>
        <p:sp>
          <p:nvSpPr>
            <p:cNvPr id="4" name="zoneA.frame"/>
            <p:cNvSpPr/>
            <p:nvPr/>
          </p:nvSpPr>
          <p:spPr>
            <a:xfrm>
              <a:off x="320040" y="758953"/>
              <a:ext cx="1499617" cy="1682494"/>
            </a:xfrm>
            <a:prstGeom prst="roundRect">
              <a:avLst/>
            </a:prstGeom>
            <a:solidFill>
              <a:srgbClr val="FCF2E2"/>
            </a:solidFill>
            <a:ln w="12700">
              <a:solidFill>
                <a:srgbClr val="B26B00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zoneA.pill.box"/>
            <p:cNvSpPr/>
            <p:nvPr/>
          </p:nvSpPr>
          <p:spPr>
            <a:xfrm>
              <a:off x="320041" y="758952"/>
              <a:ext cx="1499616" cy="269748"/>
            </a:xfrm>
            <a:prstGeom prst="roundRect">
              <a:avLst/>
            </a:prstGeom>
            <a:solidFill>
              <a:srgbClr val="B26B00"/>
            </a:solidFill>
            <a:ln w="12700">
              <a:solidFill>
                <a:srgbClr val="B26B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b-NO" sz="1400" dirty="0" err="1"/>
                <a:t>Before</a:t>
              </a:r>
              <a:r>
                <a:rPr lang="nb-NO" sz="1400" dirty="0"/>
                <a:t> </a:t>
              </a:r>
              <a:r>
                <a:rPr lang="nb-NO" sz="1400" dirty="0" err="1"/>
                <a:t>departure</a:t>
              </a:r>
              <a:endParaRPr sz="1400" dirty="0"/>
            </a:p>
          </p:txBody>
        </p:sp>
        <p:sp>
          <p:nvSpPr>
            <p:cNvPr id="13" name="zoneA.sub"/>
            <p:cNvSpPr txBox="1"/>
            <p:nvPr/>
          </p:nvSpPr>
          <p:spPr>
            <a:xfrm>
              <a:off x="-251460" y="1069848"/>
              <a:ext cx="2642615" cy="201168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900" b="0" i="1" dirty="0">
                  <a:solidFill>
                    <a:srgbClr val="B26B00"/>
                  </a:solidFill>
                  <a:latin typeface="Calibri"/>
                </a:rPr>
                <a:t>open-loop  -  no feedback</a:t>
              </a:r>
            </a:p>
          </p:txBody>
        </p:sp>
        <p:sp>
          <p:nvSpPr>
            <p:cNvPr id="16" name="zoneA.ro.box"/>
            <p:cNvSpPr/>
            <p:nvPr/>
          </p:nvSpPr>
          <p:spPr>
            <a:xfrm>
              <a:off x="476246" y="1487169"/>
              <a:ext cx="1161289" cy="412497"/>
            </a:xfrm>
            <a:prstGeom prst="roundRect">
              <a:avLst/>
            </a:prstGeom>
            <a:solidFill>
              <a:srgbClr val="FFFFFF"/>
            </a:solidFill>
            <a:ln w="15875">
              <a:solidFill>
                <a:srgbClr val="B26B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b-NO" dirty="0">
                  <a:solidFill>
                    <a:schemeClr val="accent6">
                      <a:lumMod val="50000"/>
                    </a:schemeClr>
                  </a:solidFill>
                </a:rPr>
                <a:t>RO</a:t>
              </a:r>
              <a:endParaRPr dirty="0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  <p:sp>
          <p:nvSpPr>
            <p:cNvPr id="27" name="zoneA.lane.label"/>
            <p:cNvSpPr txBox="1"/>
            <p:nvPr/>
          </p:nvSpPr>
          <p:spPr>
            <a:xfrm>
              <a:off x="-76962" y="1202941"/>
              <a:ext cx="2253993" cy="26161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850" b="0" i="1" dirty="0">
                  <a:solidFill>
                    <a:schemeClr val="bg1">
                      <a:lumMod val="50000"/>
                    </a:schemeClr>
                  </a:solidFill>
                  <a:latin typeface="Calibri"/>
                </a:rPr>
                <a:t>computed once, before any </a:t>
              </a:r>
              <a:endParaRPr lang="nb-NO" sz="850" b="0" i="1" dirty="0">
                <a:solidFill>
                  <a:schemeClr val="bg1">
                    <a:lumMod val="50000"/>
                  </a:schemeClr>
                </a:solidFill>
                <a:latin typeface="Calibri"/>
              </a:endParaRPr>
            </a:p>
            <a:p>
              <a:pPr algn="ctr"/>
              <a:r>
                <a:rPr sz="850" b="0" i="1" dirty="0">
                  <a:solidFill>
                    <a:schemeClr val="bg1">
                      <a:lumMod val="50000"/>
                    </a:schemeClr>
                  </a:solidFill>
                  <a:latin typeface="Calibri"/>
                </a:rPr>
                <a:t>travel time is known</a:t>
              </a:r>
            </a:p>
          </p:txBody>
        </p:sp>
        <p:sp>
          <p:nvSpPr>
            <p:cNvPr id="129" name="zoneA.ro.box">
              <a:extLst>
                <a:ext uri="{FF2B5EF4-FFF2-40B4-BE49-F238E27FC236}">
                  <a16:creationId xmlns:a16="http://schemas.microsoft.com/office/drawing/2014/main" id="{D1312861-033E-C261-822D-14D46D8980D3}"/>
                </a:ext>
              </a:extLst>
            </p:cNvPr>
            <p:cNvSpPr/>
            <p:nvPr/>
          </p:nvSpPr>
          <p:spPr>
            <a:xfrm>
              <a:off x="476245" y="1964943"/>
              <a:ext cx="1161289" cy="412497"/>
            </a:xfrm>
            <a:prstGeom prst="roundRect">
              <a:avLst/>
            </a:prstGeom>
            <a:solidFill>
              <a:srgbClr val="FFFFFF"/>
            </a:solidFill>
            <a:ln w="15875">
              <a:solidFill>
                <a:srgbClr val="B26B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b-NO" dirty="0">
                  <a:solidFill>
                    <a:schemeClr val="accent6">
                      <a:lumMod val="50000"/>
                    </a:schemeClr>
                  </a:solidFill>
                </a:rPr>
                <a:t>2SP</a:t>
              </a:r>
              <a:endParaRPr dirty="0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</p:grpSp>
      <p:grpSp>
        <p:nvGrpSpPr>
          <p:cNvPr id="204" name="Group 203">
            <a:extLst>
              <a:ext uri="{FF2B5EF4-FFF2-40B4-BE49-F238E27FC236}">
                <a16:creationId xmlns:a16="http://schemas.microsoft.com/office/drawing/2014/main" id="{5214DE59-9361-D1E1-6389-B12792A9BFB9}"/>
              </a:ext>
            </a:extLst>
          </p:cNvPr>
          <p:cNvGrpSpPr/>
          <p:nvPr/>
        </p:nvGrpSpPr>
        <p:grpSpPr>
          <a:xfrm>
            <a:off x="6675120" y="1236393"/>
            <a:ext cx="2263140" cy="2386583"/>
            <a:chOff x="6515100" y="1783080"/>
            <a:chExt cx="2263140" cy="2386583"/>
          </a:xfrm>
        </p:grpSpPr>
        <p:sp>
          <p:nvSpPr>
            <p:cNvPr id="35" name="shelf.box"/>
            <p:cNvSpPr/>
            <p:nvPr/>
          </p:nvSpPr>
          <p:spPr>
            <a:xfrm>
              <a:off x="6515100" y="1783080"/>
              <a:ext cx="2263140" cy="2386583"/>
            </a:xfrm>
            <a:prstGeom prst="round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6" name="shelf.title"/>
            <p:cNvSpPr txBox="1"/>
            <p:nvPr/>
          </p:nvSpPr>
          <p:spPr>
            <a:xfrm>
              <a:off x="7353076" y="1825118"/>
              <a:ext cx="472886" cy="192360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250" b="1" i="0" dirty="0">
                  <a:latin typeface="Calibri"/>
                </a:rPr>
                <a:t>POLICY</a:t>
              </a:r>
            </a:p>
          </p:txBody>
        </p:sp>
        <p:sp>
          <p:nvSpPr>
            <p:cNvPr id="37" name="shelf.sub"/>
            <p:cNvSpPr txBox="1"/>
            <p:nvPr/>
          </p:nvSpPr>
          <p:spPr>
            <a:xfrm>
              <a:off x="6782273" y="2059686"/>
              <a:ext cx="1753685" cy="130805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850" b="0" i="1" dirty="0">
                  <a:solidFill>
                    <a:srgbClr val="5F5F5F"/>
                  </a:solidFill>
                  <a:latin typeface="Calibri"/>
                </a:rPr>
                <a:t>chooses the action at this </a:t>
              </a:r>
              <a:r>
                <a:rPr lang="nb-NO" sz="850" b="0" i="1" dirty="0" err="1">
                  <a:solidFill>
                    <a:srgbClr val="5F5F5F"/>
                  </a:solidFill>
                  <a:latin typeface="Calibri"/>
                </a:rPr>
                <a:t>decision</a:t>
              </a:r>
              <a:r>
                <a:rPr lang="nb-NO" sz="850" b="0" i="1" dirty="0">
                  <a:solidFill>
                    <a:srgbClr val="5F5F5F"/>
                  </a:solidFill>
                  <a:latin typeface="Calibri"/>
                </a:rPr>
                <a:t> </a:t>
              </a:r>
              <a:r>
                <a:rPr lang="nb-NO" sz="850" b="0" i="1" dirty="0" err="1">
                  <a:solidFill>
                    <a:srgbClr val="5F5F5F"/>
                  </a:solidFill>
                  <a:latin typeface="Calibri"/>
                </a:rPr>
                <a:t>point</a:t>
              </a:r>
              <a:endParaRPr sz="850" b="0" i="1" dirty="0">
                <a:solidFill>
                  <a:srgbClr val="5F5F5F"/>
                </a:solidFill>
                <a:latin typeface="Calibri"/>
              </a:endParaRPr>
            </a:p>
          </p:txBody>
        </p:sp>
        <p:grpSp>
          <p:nvGrpSpPr>
            <p:cNvPr id="153" name="Group 152">
              <a:extLst>
                <a:ext uri="{FF2B5EF4-FFF2-40B4-BE49-F238E27FC236}">
                  <a16:creationId xmlns:a16="http://schemas.microsoft.com/office/drawing/2014/main" id="{9156E98A-C778-E04C-4E4A-1CAE09A5E213}"/>
                </a:ext>
              </a:extLst>
            </p:cNvPr>
            <p:cNvGrpSpPr/>
            <p:nvPr/>
          </p:nvGrpSpPr>
          <p:grpSpPr>
            <a:xfrm>
              <a:off x="6592825" y="2278696"/>
              <a:ext cx="2081275" cy="359348"/>
              <a:chOff x="6592825" y="2278696"/>
              <a:chExt cx="2081275" cy="359348"/>
            </a:xfrm>
          </p:grpSpPr>
          <p:sp>
            <p:nvSpPr>
              <p:cNvPr id="38" name="shelf.ro.box"/>
              <p:cNvSpPr/>
              <p:nvPr/>
            </p:nvSpPr>
            <p:spPr>
              <a:xfrm>
                <a:off x="6592825" y="2278696"/>
                <a:ext cx="2081275" cy="359348"/>
              </a:xfrm>
              <a:prstGeom prst="roundRect">
                <a:avLst/>
              </a:prstGeom>
              <a:solidFill>
                <a:srgbClr val="FCF2E2"/>
              </a:solidFill>
              <a:ln w="12700">
                <a:solidFill>
                  <a:srgbClr val="B26B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shelf.ro.name"/>
              <p:cNvSpPr txBox="1"/>
              <p:nvPr/>
            </p:nvSpPr>
            <p:spPr>
              <a:xfrm>
                <a:off x="6686007" y="2332025"/>
                <a:ext cx="501177" cy="246221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sz="1600" b="1" i="0" dirty="0">
                    <a:solidFill>
                      <a:srgbClr val="B26B00"/>
                    </a:solidFill>
                    <a:latin typeface="Calibri"/>
                  </a:rPr>
                  <a:t>RO</a:t>
                </a:r>
              </a:p>
            </p:txBody>
          </p:sp>
          <p:sp>
            <p:nvSpPr>
              <p:cNvPr id="40" name="shelf.ro.desc"/>
              <p:cNvSpPr txBox="1"/>
              <p:nvPr/>
            </p:nvSpPr>
            <p:spPr>
              <a:xfrm>
                <a:off x="7140288" y="2384217"/>
                <a:ext cx="1364809" cy="138499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sz="900" b="0" i="0" dirty="0">
                    <a:solidFill>
                      <a:srgbClr val="5F5F5F"/>
                    </a:solidFill>
                    <a:latin typeface="Calibri"/>
                  </a:rPr>
                  <a:t>executes the committed plan</a:t>
                </a:r>
              </a:p>
            </p:txBody>
          </p:sp>
        </p:grpSp>
        <p:grpSp>
          <p:nvGrpSpPr>
            <p:cNvPr id="152" name="Group 151">
              <a:extLst>
                <a:ext uri="{FF2B5EF4-FFF2-40B4-BE49-F238E27FC236}">
                  <a16:creationId xmlns:a16="http://schemas.microsoft.com/office/drawing/2014/main" id="{E802B40F-3CB7-2974-B2DD-D085AC6B9077}"/>
                </a:ext>
              </a:extLst>
            </p:cNvPr>
            <p:cNvGrpSpPr/>
            <p:nvPr/>
          </p:nvGrpSpPr>
          <p:grpSpPr>
            <a:xfrm>
              <a:off x="6592825" y="2689764"/>
              <a:ext cx="2081275" cy="359348"/>
              <a:chOff x="6592825" y="2689764"/>
              <a:chExt cx="2081275" cy="359348"/>
            </a:xfrm>
          </p:grpSpPr>
          <p:sp>
            <p:nvSpPr>
              <p:cNvPr id="147" name="shelf.ro.box">
                <a:extLst>
                  <a:ext uri="{FF2B5EF4-FFF2-40B4-BE49-F238E27FC236}">
                    <a16:creationId xmlns:a16="http://schemas.microsoft.com/office/drawing/2014/main" id="{997D34E1-A2F7-D218-C4D8-D43AA90AB616}"/>
                  </a:ext>
                </a:extLst>
              </p:cNvPr>
              <p:cNvSpPr/>
              <p:nvPr/>
            </p:nvSpPr>
            <p:spPr>
              <a:xfrm>
                <a:off x="6592825" y="2689764"/>
                <a:ext cx="2081275" cy="359348"/>
              </a:xfrm>
              <a:prstGeom prst="roundRect">
                <a:avLst/>
              </a:prstGeom>
              <a:solidFill>
                <a:srgbClr val="FCF2E2"/>
              </a:solidFill>
              <a:ln w="12700">
                <a:solidFill>
                  <a:srgbClr val="B26B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9" name="shelf.ro.name">
                <a:extLst>
                  <a:ext uri="{FF2B5EF4-FFF2-40B4-BE49-F238E27FC236}">
                    <a16:creationId xmlns:a16="http://schemas.microsoft.com/office/drawing/2014/main" id="{EA3835FF-C94E-E9E2-3C17-655D6FA54017}"/>
                  </a:ext>
                </a:extLst>
              </p:cNvPr>
              <p:cNvSpPr txBox="1"/>
              <p:nvPr/>
            </p:nvSpPr>
            <p:spPr>
              <a:xfrm>
                <a:off x="6686007" y="2743093"/>
                <a:ext cx="501177" cy="246221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lang="nb-NO" sz="1600" b="1" i="0" dirty="0">
                    <a:solidFill>
                      <a:srgbClr val="B26B00"/>
                    </a:solidFill>
                    <a:latin typeface="Calibri"/>
                  </a:rPr>
                  <a:t>2SP</a:t>
                </a:r>
                <a:endParaRPr sz="1600" b="1" i="0" dirty="0">
                  <a:solidFill>
                    <a:srgbClr val="B26B00"/>
                  </a:solidFill>
                  <a:latin typeface="Calibri"/>
                </a:endParaRPr>
              </a:p>
            </p:txBody>
          </p:sp>
          <p:sp>
            <p:nvSpPr>
              <p:cNvPr id="151" name="shelf.ro.desc">
                <a:extLst>
                  <a:ext uri="{FF2B5EF4-FFF2-40B4-BE49-F238E27FC236}">
                    <a16:creationId xmlns:a16="http://schemas.microsoft.com/office/drawing/2014/main" id="{B585DE20-B8D1-79EE-7C59-9AF0D668E50D}"/>
                  </a:ext>
                </a:extLst>
              </p:cNvPr>
              <p:cNvSpPr txBox="1"/>
              <p:nvPr/>
            </p:nvSpPr>
            <p:spPr>
              <a:xfrm>
                <a:off x="7140288" y="2795285"/>
                <a:ext cx="1533812" cy="138499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r>
                  <a:rPr lang="en-US" sz="900" dirty="0">
                    <a:solidFill>
                      <a:srgbClr val="5F5F5F"/>
                    </a:solidFill>
                  </a:rPr>
                  <a:t>structure fixed, adjust durations</a:t>
                </a:r>
              </a:p>
            </p:txBody>
          </p:sp>
        </p:grpSp>
        <p:grpSp>
          <p:nvGrpSpPr>
            <p:cNvPr id="154" name="Group 153">
              <a:extLst>
                <a:ext uri="{FF2B5EF4-FFF2-40B4-BE49-F238E27FC236}">
                  <a16:creationId xmlns:a16="http://schemas.microsoft.com/office/drawing/2014/main" id="{0AC5C854-8FFF-0D51-BA53-264BC1D0EC8E}"/>
                </a:ext>
              </a:extLst>
            </p:cNvPr>
            <p:cNvGrpSpPr/>
            <p:nvPr/>
          </p:nvGrpSpPr>
          <p:grpSpPr>
            <a:xfrm>
              <a:off x="6592824" y="3140551"/>
              <a:ext cx="2081275" cy="359348"/>
              <a:chOff x="6592825" y="2689764"/>
              <a:chExt cx="2081275" cy="359348"/>
            </a:xfrm>
          </p:grpSpPr>
          <p:sp>
            <p:nvSpPr>
              <p:cNvPr id="155" name="shelf.ro.box">
                <a:extLst>
                  <a:ext uri="{FF2B5EF4-FFF2-40B4-BE49-F238E27FC236}">
                    <a16:creationId xmlns:a16="http://schemas.microsoft.com/office/drawing/2014/main" id="{28A33F21-8F0A-5C3D-124E-5B7D6FAE3874}"/>
                  </a:ext>
                </a:extLst>
              </p:cNvPr>
              <p:cNvSpPr/>
              <p:nvPr/>
            </p:nvSpPr>
            <p:spPr>
              <a:xfrm>
                <a:off x="6592825" y="2689764"/>
                <a:ext cx="2081275" cy="359348"/>
              </a:xfrm>
              <a:prstGeom prst="round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12700">
                <a:solidFill>
                  <a:schemeClr val="accent3">
                    <a:lumMod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6" name="shelf.ro.name">
                <a:extLst>
                  <a:ext uri="{FF2B5EF4-FFF2-40B4-BE49-F238E27FC236}">
                    <a16:creationId xmlns:a16="http://schemas.microsoft.com/office/drawing/2014/main" id="{098BCC8D-7693-F4C1-D74D-874FDD10022B}"/>
                  </a:ext>
                </a:extLst>
              </p:cNvPr>
              <p:cNvSpPr txBox="1"/>
              <p:nvPr/>
            </p:nvSpPr>
            <p:spPr>
              <a:xfrm>
                <a:off x="6686007" y="2743093"/>
                <a:ext cx="720633" cy="246221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lang="nb-NO" sz="1600" b="1" i="0" dirty="0">
                    <a:solidFill>
                      <a:srgbClr val="00B050"/>
                    </a:solidFill>
                    <a:latin typeface="Calibri"/>
                  </a:rPr>
                  <a:t>GREEDY</a:t>
                </a:r>
                <a:endParaRPr sz="1600" b="1" i="0" dirty="0">
                  <a:solidFill>
                    <a:srgbClr val="00B050"/>
                  </a:solidFill>
                  <a:latin typeface="Calibri"/>
                </a:endParaRPr>
              </a:p>
            </p:txBody>
          </p:sp>
          <p:sp>
            <p:nvSpPr>
              <p:cNvPr id="157" name="shelf.ro.desc">
                <a:extLst>
                  <a:ext uri="{FF2B5EF4-FFF2-40B4-BE49-F238E27FC236}">
                    <a16:creationId xmlns:a16="http://schemas.microsoft.com/office/drawing/2014/main" id="{82187B0C-4F9D-4E35-10DD-8FD5ED1E539A}"/>
                  </a:ext>
                </a:extLst>
              </p:cNvPr>
              <p:cNvSpPr txBox="1"/>
              <p:nvPr/>
            </p:nvSpPr>
            <p:spPr>
              <a:xfrm>
                <a:off x="7499822" y="2801699"/>
                <a:ext cx="1155699" cy="138499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r>
                  <a:rPr lang="en-US" sz="900" dirty="0">
                    <a:solidFill>
                      <a:srgbClr val="5F5F5F"/>
                    </a:solidFill>
                  </a:rPr>
                  <a:t>priority rule</a:t>
                </a:r>
              </a:p>
            </p:txBody>
          </p:sp>
        </p:grpSp>
        <p:grpSp>
          <p:nvGrpSpPr>
            <p:cNvPr id="158" name="Group 157">
              <a:extLst>
                <a:ext uri="{FF2B5EF4-FFF2-40B4-BE49-F238E27FC236}">
                  <a16:creationId xmlns:a16="http://schemas.microsoft.com/office/drawing/2014/main" id="{D0423FB1-CD3A-1E63-DFF4-0036BC4F2952}"/>
                </a:ext>
              </a:extLst>
            </p:cNvPr>
            <p:cNvGrpSpPr/>
            <p:nvPr/>
          </p:nvGrpSpPr>
          <p:grpSpPr>
            <a:xfrm>
              <a:off x="6600115" y="3553276"/>
              <a:ext cx="2081275" cy="359348"/>
              <a:chOff x="6592825" y="2689764"/>
              <a:chExt cx="2081275" cy="359348"/>
            </a:xfrm>
          </p:grpSpPr>
          <p:sp>
            <p:nvSpPr>
              <p:cNvPr id="159" name="shelf.ro.box">
                <a:extLst>
                  <a:ext uri="{FF2B5EF4-FFF2-40B4-BE49-F238E27FC236}">
                    <a16:creationId xmlns:a16="http://schemas.microsoft.com/office/drawing/2014/main" id="{E26A0D08-C8B8-C763-BF65-D9096A6821E7}"/>
                  </a:ext>
                </a:extLst>
              </p:cNvPr>
              <p:cNvSpPr/>
              <p:nvPr/>
            </p:nvSpPr>
            <p:spPr>
              <a:xfrm>
                <a:off x="6592825" y="2689764"/>
                <a:ext cx="2081275" cy="359348"/>
              </a:xfrm>
              <a:prstGeom prst="round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12700">
                <a:solidFill>
                  <a:schemeClr val="accent3">
                    <a:lumMod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0" name="shelf.ro.name">
                <a:extLst>
                  <a:ext uri="{FF2B5EF4-FFF2-40B4-BE49-F238E27FC236}">
                    <a16:creationId xmlns:a16="http://schemas.microsoft.com/office/drawing/2014/main" id="{0331998E-94B0-BC3E-17F0-B2B4514FD4BE}"/>
                  </a:ext>
                </a:extLst>
              </p:cNvPr>
              <p:cNvSpPr txBox="1"/>
              <p:nvPr/>
            </p:nvSpPr>
            <p:spPr>
              <a:xfrm>
                <a:off x="6686007" y="2743093"/>
                <a:ext cx="720633" cy="246221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lang="nb-NO" sz="1600" b="1" i="0" dirty="0">
                    <a:solidFill>
                      <a:srgbClr val="00B050"/>
                    </a:solidFill>
                    <a:latin typeface="Calibri"/>
                  </a:rPr>
                  <a:t>LA</a:t>
                </a:r>
                <a:endParaRPr sz="1600" b="1" i="0" dirty="0">
                  <a:solidFill>
                    <a:srgbClr val="00B050"/>
                  </a:solidFill>
                  <a:latin typeface="Calibri"/>
                </a:endParaRPr>
              </a:p>
            </p:txBody>
          </p:sp>
          <p:sp>
            <p:nvSpPr>
              <p:cNvPr id="161" name="shelf.ro.desc">
                <a:extLst>
                  <a:ext uri="{FF2B5EF4-FFF2-40B4-BE49-F238E27FC236}">
                    <a16:creationId xmlns:a16="http://schemas.microsoft.com/office/drawing/2014/main" id="{078870EA-0D46-A45C-2E03-7843D88FB2C7}"/>
                  </a:ext>
                </a:extLst>
              </p:cNvPr>
              <p:cNvSpPr txBox="1"/>
              <p:nvPr/>
            </p:nvSpPr>
            <p:spPr>
              <a:xfrm>
                <a:off x="7134174" y="2801699"/>
                <a:ext cx="1521348" cy="138499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r>
                  <a:rPr lang="en-US" sz="900" dirty="0">
                    <a:solidFill>
                      <a:srgbClr val="5F5F5F"/>
                    </a:solidFill>
                  </a:rPr>
                  <a:t>lookahead, re-solve MILP</a:t>
                </a:r>
              </a:p>
            </p:txBody>
          </p:sp>
        </p:grpSp>
      </p:grpSp>
      <p:sp>
        <p:nvSpPr>
          <p:cNvPr id="166" name="TextBox 165">
            <a:extLst>
              <a:ext uri="{FF2B5EF4-FFF2-40B4-BE49-F238E27FC236}">
                <a16:creationId xmlns:a16="http://schemas.microsoft.com/office/drawing/2014/main" id="{55068547-2F53-90E3-1520-BBD526444BBF}"/>
              </a:ext>
            </a:extLst>
          </p:cNvPr>
          <p:cNvSpPr txBox="1"/>
          <p:nvPr/>
        </p:nvSpPr>
        <p:spPr>
          <a:xfrm>
            <a:off x="5404104" y="1232796"/>
            <a:ext cx="74539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nb-NO" dirty="0"/>
              <a:t>STATE</a:t>
            </a:r>
            <a:endParaRPr lang="en-US" dirty="0"/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9747CE30-6896-38EF-FCFE-639BAD14689C}"/>
              </a:ext>
            </a:extLst>
          </p:cNvPr>
          <p:cNvSpPr txBox="1"/>
          <p:nvPr/>
        </p:nvSpPr>
        <p:spPr>
          <a:xfrm>
            <a:off x="5589306" y="3415021"/>
            <a:ext cx="91975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nb-NO" dirty="0"/>
              <a:t>ACTION</a:t>
            </a:r>
            <a:endParaRPr lang="en-US" dirty="0"/>
          </a:p>
        </p:txBody>
      </p:sp>
      <p:sp>
        <p:nvSpPr>
          <p:cNvPr id="174" name="loop.state.box">
            <a:extLst>
              <a:ext uri="{FF2B5EF4-FFF2-40B4-BE49-F238E27FC236}">
                <a16:creationId xmlns:a16="http://schemas.microsoft.com/office/drawing/2014/main" id="{78420A8F-9E67-7AB2-2421-30B47385A432}"/>
              </a:ext>
            </a:extLst>
          </p:cNvPr>
          <p:cNvSpPr/>
          <p:nvPr/>
        </p:nvSpPr>
        <p:spPr>
          <a:xfrm>
            <a:off x="3619500" y="3330316"/>
            <a:ext cx="1431636" cy="384463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1587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1100" dirty="0">
                <a:solidFill>
                  <a:schemeClr val="bg1"/>
                </a:solidFill>
              </a:rPr>
              <a:t>Reveal </a:t>
            </a:r>
            <a:r>
              <a:rPr lang="nb-NO" sz="1100" dirty="0" err="1">
                <a:solidFill>
                  <a:schemeClr val="bg1"/>
                </a:solidFill>
              </a:rPr>
              <a:t>uncertainty</a:t>
            </a:r>
            <a:r>
              <a:rPr lang="nb-NO" sz="1100" dirty="0">
                <a:solidFill>
                  <a:schemeClr val="bg1"/>
                </a:solidFill>
              </a:rPr>
              <a:t> for </a:t>
            </a:r>
            <a:r>
              <a:rPr lang="nb-NO" sz="1100" dirty="0" err="1">
                <a:solidFill>
                  <a:schemeClr val="bg1"/>
                </a:solidFill>
              </a:rPr>
              <a:t>next</a:t>
            </a:r>
            <a:r>
              <a:rPr lang="nb-NO" sz="1100" dirty="0">
                <a:solidFill>
                  <a:schemeClr val="bg1"/>
                </a:solidFill>
              </a:rPr>
              <a:t> leg</a:t>
            </a:r>
            <a:endParaRPr sz="1100" dirty="0">
              <a:solidFill>
                <a:schemeClr val="bg1"/>
              </a:solidFill>
            </a:endParaRPr>
          </a:p>
        </p:txBody>
      </p:sp>
      <p:cxnSp>
        <p:nvCxnSpPr>
          <p:cNvPr id="178" name="loop.arr.act">
            <a:extLst>
              <a:ext uri="{FF2B5EF4-FFF2-40B4-BE49-F238E27FC236}">
                <a16:creationId xmlns:a16="http://schemas.microsoft.com/office/drawing/2014/main" id="{D2955F8B-32B2-095F-9E5A-362D6DF82549}"/>
              </a:ext>
            </a:extLst>
          </p:cNvPr>
          <p:cNvCxnSpPr>
            <a:cxnSpLocks/>
            <a:stCxn id="174" idx="0"/>
            <a:endCxn id="28" idx="2"/>
          </p:cNvCxnSpPr>
          <p:nvPr/>
        </p:nvCxnSpPr>
        <p:spPr>
          <a:xfrm rot="5400000" flipH="1" flipV="1">
            <a:off x="4182009" y="2655735"/>
            <a:ext cx="827891" cy="521272"/>
          </a:xfrm>
          <a:prstGeom prst="curved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2" name="TextBox 171">
            <a:extLst>
              <a:ext uri="{FF2B5EF4-FFF2-40B4-BE49-F238E27FC236}">
                <a16:creationId xmlns:a16="http://schemas.microsoft.com/office/drawing/2014/main" id="{EF115B7B-2C6F-F110-5D8B-212345965596}"/>
              </a:ext>
            </a:extLst>
          </p:cNvPr>
          <p:cNvSpPr txBox="1"/>
          <p:nvPr/>
        </p:nvSpPr>
        <p:spPr>
          <a:xfrm>
            <a:off x="3484153" y="2953212"/>
            <a:ext cx="1230753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nb-NO" sz="1400" dirty="0"/>
              <a:t>UNCERTAINTY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100</Words>
  <Application>Microsoft Office PowerPoint</Application>
  <PresentationFormat>Widescreen</PresentationFormat>
  <Paragraphs>34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Celine Victoria Pagnier</cp:lastModifiedBy>
  <cp:revision>5</cp:revision>
  <dcterms:created xsi:type="dcterms:W3CDTF">2013-01-27T09:14:16Z</dcterms:created>
  <dcterms:modified xsi:type="dcterms:W3CDTF">2026-08-21T10:12:11Z</dcterms:modified>
  <cp:category/>
</cp:coreProperties>
</file>